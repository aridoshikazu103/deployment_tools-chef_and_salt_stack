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20"/>
    <p:sldId id="264" r:id="rId21"/>
    <p:sldId id="265" r:id="rId22"/>
  </p:sldIdLst>
  <p:notesMasterIdLst>
    <p:notesMasterId r:id="rId9"/>
  </p:notesMasterIdLst>
  <p:sldSz cx="12191695" cy="6858000"/>
  <p:notesSz cx="6858000" cy="12191695"/>
  <p:embeddedFontLst>
    <p:embeddedFont>
      <p:font typeface="JetBrains Mono"/>
      <p:regular r:id="rId201314"/>
    </p:embeddedFont>
    <p:embeddedFont>
      <p:font typeface="JetBrains Mono Medium"/>
      <p:regular r:id="rId201315"/>
    </p:embeddedFont>
    <p:embeddedFont>
      <p:font typeface="JetBrains Mono SemiBold"/>
      <p:regular r:id="rId201316"/>
    </p:embeddedFont>
    <p:embeddedFont>
      <p:font typeface="JetBrains Mono Bold"/>
      <p:regular r:id="rId201317"/>
    </p:embeddedFont>
    <p:embeddedFont>
      <p:font typeface="Martian Mono Bold"/>
      <p:regular r:id="rId201318"/>
    </p:embeddedFont>
    <p:embeddedFont>
      <p:font typeface="Martian Mono ExtraBol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01314" Type="http://schemas.openxmlformats.org/officeDocument/2006/relationships/font" Target="fonts/201314.fntdata"/><Relationship Id="rId201315" Type="http://schemas.openxmlformats.org/officeDocument/2006/relationships/font" Target="fonts/201315.fntdata"/><Relationship Id="rId201316" Type="http://schemas.openxmlformats.org/officeDocument/2006/relationships/font" Target="fonts/201316.fntdata"/><Relationship Id="rId201317" Type="http://schemas.openxmlformats.org/officeDocument/2006/relationships/font" Target="fonts/201317.fntdata"/><Relationship Id="rId201318" Type="http://schemas.openxmlformats.org/officeDocument/2006/relationships/font" Target="fonts/201318.fntdata"/><Relationship Id="rId201319" Type="http://schemas.openxmlformats.org/officeDocument/2006/relationships/font" Target="fonts/20131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Sir/Ma'am and friends. I am Lokesh, and my teammate is Sooraj. Our seminar topic is Deployment Tools – Chef and SaltStack. Today, we will explain how these two powerful tools automate server deployment and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Earlier, engineers manually configured each server using shell scripts. This created “configuration drift,” where servers had different settings, causing crashes. DevOps deployment tools solve this using Infrastructure as Code. They make deployment automated, repeatable, and error-free across hundreds of servers. Now, Sooraj will explain our first tool: Chef.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Lokesh. The first tool is Chef. Chef uses the Ruby language and follows an agent-based Pull model with three main parts: first, the Workstation where we write our configuration code; second, the Chef Server, which stores all configurations centrally; and third, the Chef Nodes, where the chef-client agent runs. The agent pulls configurations from the server and updates the machine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Chef, configurations are organized into Cookbooks and Recipes written in Ruby. As shown in our code example, a recipe uses simple Ruby instructions. It tells the server to install Nginx, create the web page, and start the service. Chef ensures the system always stays in this desired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look at the second tool: SaltStack. SaltStack is built with Python and uses YAML for configuration. Unlike Chef's pull model, SaltStack uses a Push model. The Salt Master uses a high-speed bus called ZeroMQ to push commands instantly to all Salt Minions. It can configure thousands of servers in just seconds. Now, Lokesh will show the SaltStack code and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Sooraj. In SaltStack, configurations are written in simple YAML files called SLS states, as shown in the code. Comparing both tools: Chef uses Ruby and a Pull model, making it ideal for enterprise policy management. SaltStack uses YAML and a Push model with ZeroMQ, making it best for high-speed fleet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Chef and SaltStack are two leading configuration and deployment tools that make modern cloud operations reliable and scalable. Thank you, Sir, thank you everyone! Thank you. We are now open for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Chef and SaltStack are not only for installing Nginx. The same tools deploy the frontend build, the backend API, and plug into the CI/CD pipeline. Chef uses Ruby, SaltStack uses YAML with Python for custom logic.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same deployment in three languages. Ruby for Chef recipes, YAML for Salt states and the CI pipeline, and Python for a custom Salt module.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this is the result. After the pipeline runs and Chef or SaltStack configures the servers, our website is live, shown here like a Vercel deployment dashboard.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F4A"/>
          </a:solidFill>
          <a:ln/>
        </p:spPr>
        <p:txBody>
          <a:bodyPr/>
          <a:p/>
        </p:txBody>
      </p:sp>
      <p:sp>
        <p:nvSpPr>
          <p:cNvPr id="3" name="Shape 1"/>
          <p:cNvSpPr/>
          <p:nvPr/>
        </p:nvSpPr>
        <p:spPr>
          <a:xfrm>
            <a:off x="0" y="0"/>
            <a:ext cx="12191695" cy="6858000"/>
          </a:xfrm>
          <a:prstGeom prst="rect">
            <a:avLst/>
          </a:prstGeom>
          <a:solidFill>
            <a:srgbClr val="0F3F8E"/>
          </a:solidFill>
          <a:ln/>
        </p:spPr>
        <p:txBody>
          <a:body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189" y="457200"/>
            <a:ext cx="5227209" cy="2641600"/>
          </a:xfrm>
          <a:prstGeom prst="rect">
            <a:avLst/>
          </a:prstGeom>
          <a:noFill/>
          <a:ln/>
        </p:spPr>
        <p:txBody>
          <a:bodyPr wrap="square" lIns="0" tIns="0" rIns="0" bIns="0" rtlCol="0" anchor="t">
            <a:normAutofit/>
          </a:bodyPr>
          <a:lstStyle/>
          <a:p>
            <a:pPr algn="l" indent="0" marL="0">
              <a:lnSpc>
                <a:spcPct val="83000"/>
              </a:lnSpc>
              <a:buNone/>
            </a:pPr>
            <a:r>
              <a:rPr lang="en-US" sz="5200" spc="104" kern="0" dirty="0">
                <a:solidFill>
                  <a:srgbClr val="FFFFFF"/>
                </a:solidFill>
                <a:latin typeface="Martian Mono ExtraBold" pitchFamily="34" charset="0"/>
                <a:ea typeface="Martian Mono ExtraBold" pitchFamily="34" charset="-122"/>
                <a:cs typeface="Martian Mono ExtraBold" pitchFamily="34" charset="-120"/>
              </a:rPr>
              <a:t>DEPLOYMENT TOOLS</a:t>
            </a:r>
            <a:endParaRPr lang="en-US" sz="5200" dirty="0"/>
          </a:p>
          <a:p>
            <a:pPr algn="l" indent="0" marL="0">
              <a:lnSpc>
                <a:spcPct val="83000"/>
              </a:lnSpc>
              <a:buNone/>
            </a:pPr>
            <a:r>
              <a:rPr lang="en-US" sz="5200" spc="104" kern="0" dirty="0">
                <a:solidFill>
                  <a:srgbClr val="FFFFFF"/>
                </a:solidFill>
                <a:latin typeface="Martian Mono ExtraBold" pitchFamily="34" charset="0"/>
                <a:ea typeface="Martian Mono ExtraBold" pitchFamily="34" charset="-122"/>
                <a:cs typeface="Martian Mono ExtraBold" pitchFamily="34" charset="-120"/>
              </a:rPr>
              <a:t>CHEF AND SALTSTACK</a:t>
            </a:r>
            <a:endParaRPr lang="en-US" sz="5200" dirty="0"/>
          </a:p>
        </p:txBody>
      </p:sp>
      <p:sp>
        <p:nvSpPr>
          <p:cNvPr id="3" name="Text 1"/>
          <p:cNvSpPr/>
          <p:nvPr/>
        </p:nvSpPr>
        <p:spPr>
          <a:xfrm>
            <a:off x="457189" y="3295650"/>
            <a:ext cx="5227209" cy="363141"/>
          </a:xfrm>
          <a:prstGeom prst="rect">
            <a:avLst/>
          </a:prstGeom>
          <a:noFill/>
          <a:ln/>
        </p:spPr>
        <p:txBody>
          <a:bodyPr wrap="square" lIns="0" tIns="0" rIns="0" bIns="0" rtlCol="0" anchor="t">
            <a:normAutofit/>
          </a:bodyPr>
          <a:lstStyle/>
          <a:p>
            <a:pPr algn="l" indent="0" marL="0">
              <a:lnSpc>
                <a:spcPct val="108000"/>
              </a:lnSpc>
              <a:buNone/>
            </a:pPr>
            <a:r>
              <a:rPr lang="en-US" sz="1100" spc="88" kern="0" dirty="0">
                <a:solidFill>
                  <a:srgbClr val="A9BEE6"/>
                </a:solidFill>
                <a:latin typeface="JetBrains Mono Medium" pitchFamily="34" charset="0"/>
                <a:ea typeface="JetBrains Mono Medium" pitchFamily="34" charset="-122"/>
                <a:cs typeface="JetBrains Mono Medium" pitchFamily="34" charset="-120"/>
              </a:rPr>
              <a:t>DEVOPS ENGINEERING · DEPARTMENT OF COMPUTER SCIENCE &amp; ENGINEERING</a:t>
            </a:r>
            <a:endParaRPr lang="en-US" sz="1100" dirty="0"/>
          </a:p>
        </p:txBody>
      </p:sp>
      <p:sp>
        <p:nvSpPr>
          <p:cNvPr id="4" name="Text 2"/>
          <p:cNvSpPr/>
          <p:nvPr/>
        </p:nvSpPr>
        <p:spPr>
          <a:xfrm>
            <a:off x="457189" y="4072533"/>
            <a:ext cx="5227209" cy="552450"/>
          </a:xfrm>
          <a:prstGeom prst="rect">
            <a:avLst/>
          </a:prstGeom>
          <a:noFill/>
          <a:ln/>
        </p:spPr>
        <p:txBody>
          <a:bodyPr wrap="square" lIns="0" tIns="0" rIns="0" bIns="0" rtlCol="0" anchor="t">
            <a:normAutofit/>
          </a:bodyPr>
          <a:lstStyle/>
          <a:p>
            <a:pPr algn="l" indent="0" marL="0">
              <a:lnSpc>
                <a:spcPct val="121000"/>
              </a:lnSpc>
              <a:buNone/>
            </a:pPr>
            <a:r>
              <a:rPr lang="en-US" sz="1500" dirty="0">
                <a:solidFill>
                  <a:srgbClr val="FFFFFF"/>
                </a:solidFill>
                <a:latin typeface="JetBrains Mono" pitchFamily="34" charset="0"/>
                <a:ea typeface="JetBrains Mono" pitchFamily="34" charset="-122"/>
                <a:cs typeface="JetBrains Mono" pitchFamily="34" charset="-120"/>
              </a:rPr>
              <a:t>Presented By: Lokesh (Roll No. 24011P0565)</a:t>
            </a:r>
            <a:endParaRPr lang="en-US" sz="1500" dirty="0"/>
          </a:p>
          <a:p>
            <a:pPr algn="l" indent="0" marL="0">
              <a:lnSpc>
                <a:spcPct val="121000"/>
              </a:lnSpc>
              <a:buNone/>
            </a:pPr>
            <a:r>
              <a:rPr lang="en-US" sz="1500" dirty="0">
                <a:solidFill>
                  <a:srgbClr val="FFFFFF"/>
                </a:solidFill>
                <a:latin typeface="JetBrains Mono" pitchFamily="34" charset="0"/>
                <a:ea typeface="JetBrains Mono" pitchFamily="34" charset="-122"/>
                <a:cs typeface="JetBrains Mono" pitchFamily="34" charset="-120"/>
              </a:rPr>
              <a:t>and Sooraj (Roll No. 24011P0566)</a:t>
            </a:r>
            <a:endParaRPr lang="en-US" sz="1500" dirty="0"/>
          </a:p>
        </p:txBody>
      </p:sp>
      <p:pic>
        <p:nvPicPr>
          <p:cNvPr id="5" name="Image 0" descr="preencoded.png">    </p:cNvPr>
          <p:cNvPicPr>
            <a:picLocks noChangeAspect="1"/>
          </p:cNvPicPr>
          <p:nvPr/>
        </p:nvPicPr>
        <p:blipFill>
          <a:blip r:embed="rId1"/>
          <a:stretch>
            <a:fillRect/>
          </a:stretch>
        </p:blipFill>
        <p:spPr>
          <a:xfrm>
            <a:off x="6446279" y="0"/>
            <a:ext cx="5745416" cy="5082183"/>
          </a:xfrm>
          <a:prstGeom prst="rect">
            <a:avLst/>
          </a:prstGeom>
        </p:spPr>
      </p:pic>
      <p:sp>
        <p:nvSpPr>
          <p:cNvPr id="6" name="Shape 3"/>
          <p:cNvSpPr/>
          <p:nvPr/>
        </p:nvSpPr>
        <p:spPr>
          <a:xfrm>
            <a:off x="0" y="5082183"/>
            <a:ext cx="3047924" cy="827286"/>
          </a:xfrm>
          <a:prstGeom prst="rect">
            <a:avLst/>
          </a:prstGeom>
          <a:noFill/>
          <a:ln w="6350">
            <a:solidFill>
              <a:srgbClr val="FFFFFF"/>
            </a:solidFill>
            <a:prstDash val="solid"/>
          </a:ln>
        </p:spPr>
        <p:txBody>
          <a:bodyPr/>
          <a:p/>
        </p:txBody>
      </p:sp>
      <p:sp>
        <p:nvSpPr>
          <p:cNvPr id="7" name="Text 4"/>
          <p:cNvSpPr/>
          <p:nvPr/>
        </p:nvSpPr>
        <p:spPr>
          <a:xfrm>
            <a:off x="158746" y="5190133"/>
            <a:ext cx="2889178" cy="181570"/>
          </a:xfrm>
          <a:prstGeom prst="rect">
            <a:avLst/>
          </a:prstGeom>
          <a:noFill/>
          <a:ln/>
        </p:spPr>
        <p:txBody>
          <a:bodyPr wrap="none" lIns="0" tIns="0" rIns="0" bIns="0" rtlCol="0" anchor="t"/>
          <a:lstStyle/>
          <a:p>
            <a:pPr algn="l" indent="0" marL="0">
              <a:lnSpc>
                <a:spcPct val="108000"/>
              </a:lnSpc>
              <a:buNone/>
            </a:pPr>
            <a:r>
              <a:rPr lang="en-US" sz="1100" spc="88" kern="0" dirty="0">
                <a:solidFill>
                  <a:srgbClr val="A9BEE6"/>
                </a:solidFill>
                <a:latin typeface="JetBrains Mono Medium" pitchFamily="34" charset="0"/>
                <a:ea typeface="JetBrains Mono Medium" pitchFamily="34" charset="-122"/>
                <a:cs typeface="JetBrains Mono Medium" pitchFamily="34" charset="-120"/>
              </a:rPr>
              <a:t>SUBJECT</a:t>
            </a:r>
            <a:endParaRPr lang="en-US" sz="1100" dirty="0"/>
          </a:p>
        </p:txBody>
      </p:sp>
      <p:sp>
        <p:nvSpPr>
          <p:cNvPr id="8" name="Text 5"/>
          <p:cNvSpPr/>
          <p:nvPr/>
        </p:nvSpPr>
        <p:spPr>
          <a:xfrm>
            <a:off x="158746" y="5486003"/>
            <a:ext cx="2889178" cy="239316"/>
          </a:xfrm>
          <a:prstGeom prst="rect">
            <a:avLst/>
          </a:prstGeom>
          <a:noFill/>
          <a:ln/>
        </p:spPr>
        <p:txBody>
          <a:bodyPr wrap="none" lIns="0" tIns="0" rIns="0" bIns="0" rtlCol="0" anchor="t"/>
          <a:lstStyle/>
          <a:p>
            <a:pPr algn="l" indent="0" marL="0">
              <a:lnSpc>
                <a:spcPct val="121000"/>
              </a:lnSpc>
              <a:buNone/>
            </a:pPr>
            <a:r>
              <a:rPr lang="en-US" sz="1300" dirty="0">
                <a:solidFill>
                  <a:srgbClr val="FFFFFF"/>
                </a:solidFill>
                <a:latin typeface="JetBrains Mono" pitchFamily="34" charset="0"/>
                <a:ea typeface="JetBrains Mono" pitchFamily="34" charset="-122"/>
                <a:cs typeface="JetBrains Mono" pitchFamily="34" charset="-120"/>
              </a:rPr>
              <a:t>DevOps Engineering</a:t>
            </a:r>
            <a:endParaRPr lang="en-US" sz="1300" dirty="0"/>
          </a:p>
        </p:txBody>
      </p:sp>
      <p:sp>
        <p:nvSpPr>
          <p:cNvPr id="9" name="Shape 6"/>
          <p:cNvSpPr/>
          <p:nvPr/>
        </p:nvSpPr>
        <p:spPr>
          <a:xfrm>
            <a:off x="3047924" y="5082183"/>
            <a:ext cx="3047924" cy="827286"/>
          </a:xfrm>
          <a:prstGeom prst="rect">
            <a:avLst/>
          </a:prstGeom>
          <a:noFill/>
          <a:ln w="6350">
            <a:solidFill>
              <a:srgbClr val="FFFFFF"/>
            </a:solidFill>
            <a:prstDash val="solid"/>
          </a:ln>
        </p:spPr>
        <p:txBody>
          <a:bodyPr/>
          <a:p/>
        </p:txBody>
      </p:sp>
      <p:sp>
        <p:nvSpPr>
          <p:cNvPr id="10" name="Text 7"/>
          <p:cNvSpPr/>
          <p:nvPr/>
        </p:nvSpPr>
        <p:spPr>
          <a:xfrm>
            <a:off x="3206670" y="5190133"/>
            <a:ext cx="2889178" cy="181570"/>
          </a:xfrm>
          <a:prstGeom prst="rect">
            <a:avLst/>
          </a:prstGeom>
          <a:noFill/>
          <a:ln/>
        </p:spPr>
        <p:txBody>
          <a:bodyPr wrap="none" lIns="0" tIns="0" rIns="0" bIns="0" rtlCol="0" anchor="t"/>
          <a:lstStyle/>
          <a:p>
            <a:pPr algn="l" indent="0" marL="0">
              <a:lnSpc>
                <a:spcPct val="108000"/>
              </a:lnSpc>
              <a:buNone/>
            </a:pPr>
            <a:r>
              <a:rPr lang="en-US" sz="1100" spc="88" kern="0" dirty="0">
                <a:solidFill>
                  <a:srgbClr val="A9BEE6"/>
                </a:solidFill>
                <a:latin typeface="JetBrains Mono Medium" pitchFamily="34" charset="0"/>
                <a:ea typeface="JetBrains Mono Medium" pitchFamily="34" charset="-122"/>
                <a:cs typeface="JetBrains Mono Medium" pitchFamily="34" charset="-120"/>
              </a:rPr>
              <a:t>TOPIC</a:t>
            </a:r>
            <a:endParaRPr lang="en-US" sz="1100" dirty="0"/>
          </a:p>
        </p:txBody>
      </p:sp>
      <p:sp>
        <p:nvSpPr>
          <p:cNvPr id="11" name="Text 8"/>
          <p:cNvSpPr/>
          <p:nvPr/>
        </p:nvSpPr>
        <p:spPr>
          <a:xfrm>
            <a:off x="3206670" y="5486003"/>
            <a:ext cx="2889178" cy="239316"/>
          </a:xfrm>
          <a:prstGeom prst="rect">
            <a:avLst/>
          </a:prstGeom>
          <a:noFill/>
          <a:ln/>
        </p:spPr>
        <p:txBody>
          <a:bodyPr wrap="none" lIns="0" tIns="0" rIns="0" bIns="0" rtlCol="0" anchor="t"/>
          <a:lstStyle/>
          <a:p>
            <a:pPr algn="l" indent="0" marL="0">
              <a:lnSpc>
                <a:spcPct val="121000"/>
              </a:lnSpc>
              <a:buNone/>
            </a:pPr>
            <a:r>
              <a:rPr lang="en-US" sz="1300" dirty="0">
                <a:solidFill>
                  <a:srgbClr val="FFFFFF"/>
                </a:solidFill>
                <a:latin typeface="JetBrains Mono" pitchFamily="34" charset="0"/>
                <a:ea typeface="JetBrains Mono" pitchFamily="34" charset="-122"/>
                <a:cs typeface="JetBrains Mono" pitchFamily="34" charset="-120"/>
              </a:rPr>
              <a:t>Deployment Tools</a:t>
            </a:r>
            <a:endParaRPr lang="en-US" sz="1300" dirty="0"/>
          </a:p>
        </p:txBody>
      </p:sp>
      <p:sp>
        <p:nvSpPr>
          <p:cNvPr id="12" name="Shape 9"/>
          <p:cNvSpPr/>
          <p:nvPr/>
        </p:nvSpPr>
        <p:spPr>
          <a:xfrm>
            <a:off x="6095848" y="5082183"/>
            <a:ext cx="3047924" cy="827286"/>
          </a:xfrm>
          <a:prstGeom prst="rect">
            <a:avLst/>
          </a:prstGeom>
          <a:noFill/>
          <a:ln w="6350">
            <a:solidFill>
              <a:srgbClr val="FFFFFF"/>
            </a:solidFill>
            <a:prstDash val="solid"/>
          </a:ln>
        </p:spPr>
        <p:txBody>
          <a:bodyPr/>
          <a:p/>
        </p:txBody>
      </p:sp>
      <p:sp>
        <p:nvSpPr>
          <p:cNvPr id="13" name="Text 10"/>
          <p:cNvSpPr/>
          <p:nvPr/>
        </p:nvSpPr>
        <p:spPr>
          <a:xfrm>
            <a:off x="6254594" y="5190133"/>
            <a:ext cx="2889178" cy="181570"/>
          </a:xfrm>
          <a:prstGeom prst="rect">
            <a:avLst/>
          </a:prstGeom>
          <a:noFill/>
          <a:ln/>
        </p:spPr>
        <p:txBody>
          <a:bodyPr wrap="none" lIns="0" tIns="0" rIns="0" bIns="0" rtlCol="0" anchor="t"/>
          <a:lstStyle/>
          <a:p>
            <a:pPr algn="l" indent="0" marL="0">
              <a:lnSpc>
                <a:spcPct val="108000"/>
              </a:lnSpc>
              <a:buNone/>
            </a:pPr>
            <a:r>
              <a:rPr lang="en-US" sz="1100" spc="88" kern="0" dirty="0">
                <a:solidFill>
                  <a:srgbClr val="A9BEE6"/>
                </a:solidFill>
                <a:latin typeface="JetBrains Mono Medium" pitchFamily="34" charset="0"/>
                <a:ea typeface="JetBrains Mono Medium" pitchFamily="34" charset="-122"/>
                <a:cs typeface="JetBrains Mono Medium" pitchFamily="34" charset="-120"/>
              </a:rPr>
              <a:t>TOOL 01</a:t>
            </a:r>
            <a:endParaRPr lang="en-US" sz="1100" dirty="0"/>
          </a:p>
        </p:txBody>
      </p:sp>
      <p:sp>
        <p:nvSpPr>
          <p:cNvPr id="14" name="Text 11"/>
          <p:cNvSpPr/>
          <p:nvPr/>
        </p:nvSpPr>
        <p:spPr>
          <a:xfrm>
            <a:off x="6254594" y="5486003"/>
            <a:ext cx="2889178" cy="239316"/>
          </a:xfrm>
          <a:prstGeom prst="rect">
            <a:avLst/>
          </a:prstGeom>
          <a:noFill/>
          <a:ln/>
        </p:spPr>
        <p:txBody>
          <a:bodyPr wrap="none" lIns="0" tIns="0" rIns="0" bIns="0" rtlCol="0" anchor="t"/>
          <a:lstStyle/>
          <a:p>
            <a:pPr algn="l" indent="0" marL="0">
              <a:lnSpc>
                <a:spcPct val="121000"/>
              </a:lnSpc>
              <a:buNone/>
            </a:pPr>
            <a:r>
              <a:rPr lang="en-US" sz="1300" dirty="0">
                <a:solidFill>
                  <a:srgbClr val="FFFFFF"/>
                </a:solidFill>
                <a:latin typeface="JetBrains Mono" pitchFamily="34" charset="0"/>
                <a:ea typeface="JetBrains Mono" pitchFamily="34" charset="-122"/>
                <a:cs typeface="JetBrains Mono" pitchFamily="34" charset="-120"/>
              </a:rPr>
              <a:t>Chef</a:t>
            </a:r>
            <a:endParaRPr lang="en-US" sz="1300" dirty="0"/>
          </a:p>
        </p:txBody>
      </p:sp>
      <p:sp>
        <p:nvSpPr>
          <p:cNvPr id="15" name="Shape 12"/>
          <p:cNvSpPr/>
          <p:nvPr/>
        </p:nvSpPr>
        <p:spPr>
          <a:xfrm>
            <a:off x="9143771" y="5082183"/>
            <a:ext cx="3047924" cy="827286"/>
          </a:xfrm>
          <a:prstGeom prst="rect">
            <a:avLst/>
          </a:prstGeom>
          <a:noFill/>
          <a:ln w="6350">
            <a:solidFill>
              <a:srgbClr val="FFFFFF"/>
            </a:solidFill>
            <a:prstDash val="solid"/>
          </a:ln>
        </p:spPr>
        <p:txBody>
          <a:bodyPr/>
          <a:p/>
        </p:txBody>
      </p:sp>
      <p:sp>
        <p:nvSpPr>
          <p:cNvPr id="16" name="Text 13"/>
          <p:cNvSpPr/>
          <p:nvPr/>
        </p:nvSpPr>
        <p:spPr>
          <a:xfrm>
            <a:off x="9302517" y="5190133"/>
            <a:ext cx="2889178" cy="181570"/>
          </a:xfrm>
          <a:prstGeom prst="rect">
            <a:avLst/>
          </a:prstGeom>
          <a:noFill/>
          <a:ln/>
        </p:spPr>
        <p:txBody>
          <a:bodyPr wrap="none" lIns="0" tIns="0" rIns="0" bIns="0" rtlCol="0" anchor="t"/>
          <a:lstStyle/>
          <a:p>
            <a:pPr algn="l" indent="0" marL="0">
              <a:lnSpc>
                <a:spcPct val="108000"/>
              </a:lnSpc>
              <a:buNone/>
            </a:pPr>
            <a:r>
              <a:rPr lang="en-US" sz="1100" spc="88" kern="0" dirty="0">
                <a:solidFill>
                  <a:srgbClr val="A9BEE6"/>
                </a:solidFill>
                <a:latin typeface="JetBrains Mono Medium" pitchFamily="34" charset="0"/>
                <a:ea typeface="JetBrains Mono Medium" pitchFamily="34" charset="-122"/>
                <a:cs typeface="JetBrains Mono Medium" pitchFamily="34" charset="-120"/>
              </a:rPr>
              <a:t>TOOL 02</a:t>
            </a:r>
            <a:endParaRPr lang="en-US" sz="1100" dirty="0"/>
          </a:p>
        </p:txBody>
      </p:sp>
      <p:sp>
        <p:nvSpPr>
          <p:cNvPr id="17" name="Text 14"/>
          <p:cNvSpPr/>
          <p:nvPr/>
        </p:nvSpPr>
        <p:spPr>
          <a:xfrm>
            <a:off x="9302517" y="5486003"/>
            <a:ext cx="2889178" cy="239316"/>
          </a:xfrm>
          <a:prstGeom prst="rect">
            <a:avLst/>
          </a:prstGeom>
          <a:noFill/>
          <a:ln/>
        </p:spPr>
        <p:txBody>
          <a:bodyPr wrap="none" lIns="0" tIns="0" rIns="0" bIns="0" rtlCol="0" anchor="t"/>
          <a:lstStyle/>
          <a:p>
            <a:pPr algn="l" indent="0" marL="0">
              <a:lnSpc>
                <a:spcPct val="121000"/>
              </a:lnSpc>
              <a:buNone/>
            </a:pPr>
            <a:r>
              <a:rPr lang="en-US" sz="1300" dirty="0">
                <a:solidFill>
                  <a:srgbClr val="FFFFFF"/>
                </a:solidFill>
                <a:latin typeface="JetBrains Mono" pitchFamily="34" charset="0"/>
                <a:ea typeface="JetBrains Mono" pitchFamily="34" charset="-122"/>
                <a:cs typeface="JetBrains Mono" pitchFamily="34" charset="-120"/>
              </a:rPr>
              <a:t>SaltStack</a:t>
            </a:r>
            <a:endParaRPr lang="en-US" sz="1300" dirty="0"/>
          </a:p>
        </p:txBody>
      </p:sp>
      <p:sp>
        <p:nvSpPr>
          <p:cNvPr id="18" name="Shape 15"/>
          <p:cNvSpPr/>
          <p:nvPr/>
        </p:nvSpPr>
        <p:spPr>
          <a:xfrm>
            <a:off x="0" y="6087269"/>
            <a:ext cx="12191695" cy="770731"/>
          </a:xfrm>
          <a:prstGeom prst="roundRect">
            <a:avLst>
              <a:gd name="adj" fmla="val 1483"/>
            </a:avLst>
          </a:prstGeom>
          <a:solidFill>
            <a:srgbClr val="803800"/>
          </a:solidFill>
          <a:ln/>
        </p:spPr>
        <p:txBody>
          <a:bodyPr/>
          <a:p/>
        </p:txBody>
      </p:sp>
      <p:sp>
        <p:nvSpPr>
          <p:cNvPr id="19" name="Text 16"/>
          <p:cNvSpPr/>
          <p:nvPr/>
        </p:nvSpPr>
        <p:spPr>
          <a:xfrm>
            <a:off x="190495" y="6325394"/>
            <a:ext cx="11810705" cy="294481"/>
          </a:xfrm>
          <a:prstGeom prst="rect">
            <a:avLst/>
          </a:prstGeom>
          <a:noFill/>
          <a:ln/>
        </p:spPr>
        <p:txBody>
          <a:bodyPr wrap="square" lIns="0" tIns="0" rIns="0" bIns="0" rtlCol="0" anchor="t">
            <a:normAutofit/>
          </a:bodyPr>
          <a:lstStyle/>
          <a:p>
            <a:pPr algn="l" indent="0" marL="0">
              <a:lnSpc>
                <a:spcPct val="121000"/>
              </a:lnSpc>
              <a:buNone/>
            </a:pPr>
            <a:r>
              <a:rPr lang="en-US" sz="800" dirty="0">
                <a:solidFill>
                  <a:srgbClr val="FFFFFF"/>
                </a:solidFill>
                <a:latin typeface="JetBrains Mono" pitchFamily="34" charset="0"/>
                <a:ea typeface="JetBrains Mono" pitchFamily="34" charset="-122"/>
                <a:cs typeface="JetBrains Mono" pitchFamily="34" charset="-120"/>
              </a:rPr>
              <a:t>Good morning respected Sir / Ma'am and friends. I am Lokesh, and my teammate is Sooraj. Our seminar topic is Deployment Tools – Chef and Salt Stack. Today, we will explain how these two powerful tools automate server deployment and configuration.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189" y="457200"/>
            <a:ext cx="11277318" cy="383977"/>
          </a:xfrm>
          <a:prstGeom prst="rect">
            <a:avLst/>
          </a:prstGeom>
          <a:noFill/>
          <a:ln/>
        </p:spPr>
        <p:txBody>
          <a:bodyPr wrap="none" lIns="0" tIns="0" rIns="0" bIns="0" rtlCol="0" anchor="t"/>
          <a:lstStyle/>
          <a:p>
            <a:pPr algn="l" indent="0" marL="0">
              <a:lnSpc>
                <a:spcPct val="90000"/>
              </a:lnSpc>
              <a:buNone/>
            </a:pPr>
            <a:r>
              <a:rPr lang="en-US" sz="2800" b="1" spc="84" kern="0" dirty="0">
                <a:solidFill>
                  <a:srgbClr val="FFFFFF"/>
                </a:solidFill>
                <a:latin typeface="Martian Mono Bold" pitchFamily="34" charset="0"/>
                <a:ea typeface="Martian Mono Bold" pitchFamily="34" charset="-122"/>
                <a:cs typeface="Martian Mono Bold" pitchFamily="34" charset="-120"/>
              </a:rPr>
              <a:t>NEED FOR DEPLOYMENT TOOLS</a:t>
            </a:r>
            <a:endParaRPr lang="en-US" sz="2800" dirty="0"/>
          </a:p>
        </p:txBody>
      </p:sp>
      <p:sp>
        <p:nvSpPr>
          <p:cNvPr id="3" name="Text 1"/>
          <p:cNvSpPr/>
          <p:nvPr/>
        </p:nvSpPr>
        <p:spPr>
          <a:xfrm>
            <a:off x="457189" y="1038027"/>
            <a:ext cx="5638659" cy="181570"/>
          </a:xfrm>
          <a:prstGeom prst="rect">
            <a:avLst/>
          </a:prstGeom>
          <a:noFill/>
          <a:ln/>
        </p:spPr>
        <p:txBody>
          <a:bodyPr wrap="none" lIns="0" tIns="0" rIns="0" bIns="0" rtlCol="0" anchor="t"/>
          <a:lstStyle/>
          <a:p>
            <a:pPr algn="l" indent="0" marL="0">
              <a:lnSpc>
                <a:spcPct val="108000"/>
              </a:lnSpc>
              <a:buNone/>
            </a:pPr>
            <a:r>
              <a:rPr lang="en-US" sz="1100" spc="88" kern="0" dirty="0">
                <a:solidFill>
                  <a:srgbClr val="A9BEE6"/>
                </a:solidFill>
                <a:latin typeface="JetBrains Mono Medium" pitchFamily="34" charset="0"/>
                <a:ea typeface="JetBrains Mono Medium" pitchFamily="34" charset="-122"/>
                <a:cs typeface="JetBrains Mono Medium" pitchFamily="34" charset="-120"/>
              </a:rPr>
              <a:t>THE MANUAL DEPLOYMENT PROBLEM</a:t>
            </a:r>
            <a:endParaRPr lang="en-US" sz="1100" dirty="0"/>
          </a:p>
        </p:txBody>
      </p:sp>
      <p:sp>
        <p:nvSpPr>
          <p:cNvPr id="4" name="Shape 2"/>
          <p:cNvSpPr/>
          <p:nvPr/>
        </p:nvSpPr>
        <p:spPr>
          <a:xfrm>
            <a:off x="457189" y="1643658"/>
            <a:ext cx="330192" cy="330200"/>
          </a:xfrm>
          <a:prstGeom prst="rect">
            <a:avLst/>
          </a:prstGeom>
          <a:solidFill>
            <a:srgbClr val="FFFFFF"/>
          </a:solidFill>
          <a:ln/>
        </p:spPr>
        <p:txBody>
          <a:bodyPr/>
          <a:p/>
        </p:txBody>
      </p:sp>
      <p:pic>
        <p:nvPicPr>
          <p:cNvPr id="5" name="Image 0" descr="preencoded.png">    </p:cNvPr>
          <p:cNvPicPr>
            <a:picLocks noChangeAspect="1"/>
          </p:cNvPicPr>
          <p:nvPr/>
        </p:nvPicPr>
        <p:blipFill>
          <a:blip r:embed="rId1"/>
          <a:stretch>
            <a:fillRect/>
          </a:stretch>
        </p:blipFill>
        <p:spPr>
          <a:xfrm>
            <a:off x="533387" y="1719858"/>
            <a:ext cx="177796" cy="177800"/>
          </a:xfrm>
          <a:prstGeom prst="rect">
            <a:avLst/>
          </a:prstGeom>
        </p:spPr>
      </p:pic>
      <p:sp>
        <p:nvSpPr>
          <p:cNvPr id="6" name="Text 3"/>
          <p:cNvSpPr/>
          <p:nvPr/>
        </p:nvSpPr>
        <p:spPr>
          <a:xfrm>
            <a:off x="939776" y="1692176"/>
            <a:ext cx="4927477" cy="280591"/>
          </a:xfrm>
          <a:prstGeom prst="rect">
            <a:avLst/>
          </a:prstGeom>
          <a:noFill/>
          <a:ln/>
        </p:spPr>
        <p:txBody>
          <a:bodyPr wrap="none" lIns="0" tIns="0" rIns="0" bIns="0" rtlCol="0" anchor="t"/>
          <a:lstStyle/>
          <a:p>
            <a:pPr algn="l" indent="0" marL="0">
              <a:lnSpc>
                <a:spcPct val="108000"/>
              </a:lnSpc>
              <a:buNone/>
            </a:pPr>
            <a:r>
              <a:rPr lang="en-US" sz="1700" dirty="0">
                <a:solidFill>
                  <a:srgbClr val="FFFFFF"/>
                </a:solidFill>
                <a:latin typeface="JetBrains Mono Medium" pitchFamily="34" charset="0"/>
                <a:ea typeface="JetBrains Mono Medium" pitchFamily="34" charset="-122"/>
                <a:cs typeface="JetBrains Mono Medium" pitchFamily="34" charset="-120"/>
              </a:rPr>
              <a:t>Manual SSH commands</a:t>
            </a:r>
            <a:endParaRPr lang="en-US" sz="1700" dirty="0"/>
          </a:p>
        </p:txBody>
      </p:sp>
      <p:sp>
        <p:nvSpPr>
          <p:cNvPr id="7" name="Text 4"/>
          <p:cNvSpPr/>
          <p:nvPr/>
        </p:nvSpPr>
        <p:spPr>
          <a:xfrm>
            <a:off x="939776" y="2115641"/>
            <a:ext cx="4927477" cy="552450"/>
          </a:xfrm>
          <a:prstGeom prst="rect">
            <a:avLst/>
          </a:prstGeom>
          <a:noFill/>
          <a:ln/>
        </p:spPr>
        <p:txBody>
          <a:bodyPr wrap="square" lIns="0" tIns="0" rIns="0" bIns="0" rtlCol="0" anchor="t">
            <a:normAutofit/>
          </a:bodyPr>
          <a:lstStyle/>
          <a:p>
            <a:pPr algn="l" indent="0" marL="0">
              <a:lnSpc>
                <a:spcPct val="121000"/>
              </a:lnSpc>
              <a:buNone/>
            </a:pPr>
            <a:r>
              <a:rPr lang="en-US" sz="1500" dirty="0">
                <a:solidFill>
                  <a:srgbClr val="FFFFFF"/>
                </a:solidFill>
                <a:latin typeface="JetBrains Mono" pitchFamily="34" charset="0"/>
                <a:ea typeface="JetBrains Mono" pitchFamily="34" charset="-122"/>
                <a:cs typeface="JetBrains Mono" pitchFamily="34" charset="-120"/>
              </a:rPr>
              <a:t>Manual SSH commands are slow and lead to human errors.</a:t>
            </a:r>
            <a:endParaRPr lang="en-US" sz="1500" dirty="0"/>
          </a:p>
        </p:txBody>
      </p:sp>
      <p:sp>
        <p:nvSpPr>
          <p:cNvPr id="8" name="Shape 5"/>
          <p:cNvSpPr/>
          <p:nvPr/>
        </p:nvSpPr>
        <p:spPr>
          <a:xfrm>
            <a:off x="457189" y="3793331"/>
            <a:ext cx="330192" cy="330200"/>
          </a:xfrm>
          <a:prstGeom prst="rect">
            <a:avLst/>
          </a:prstGeom>
          <a:solidFill>
            <a:srgbClr val="FFFFFF"/>
          </a:solidFill>
          <a:ln/>
        </p:spPr>
        <p:txBody>
          <a:bodyPr/>
          <a:p/>
        </p:txBody>
      </p:sp>
      <p:pic>
        <p:nvPicPr>
          <p:cNvPr id="9" name="Image 1" descr="preencoded.png">    </p:cNvPr>
          <p:cNvPicPr>
            <a:picLocks noChangeAspect="1"/>
          </p:cNvPicPr>
          <p:nvPr/>
        </p:nvPicPr>
        <p:blipFill>
          <a:blip r:embed="rId2"/>
          <a:stretch>
            <a:fillRect/>
          </a:stretch>
        </p:blipFill>
        <p:spPr>
          <a:xfrm>
            <a:off x="533387" y="3869531"/>
            <a:ext cx="177796" cy="177800"/>
          </a:xfrm>
          <a:prstGeom prst="rect">
            <a:avLst/>
          </a:prstGeom>
        </p:spPr>
      </p:pic>
      <p:sp>
        <p:nvSpPr>
          <p:cNvPr id="10" name="Text 6"/>
          <p:cNvSpPr/>
          <p:nvPr/>
        </p:nvSpPr>
        <p:spPr>
          <a:xfrm>
            <a:off x="939776" y="3841849"/>
            <a:ext cx="4927477" cy="280591"/>
          </a:xfrm>
          <a:prstGeom prst="rect">
            <a:avLst/>
          </a:prstGeom>
          <a:noFill/>
          <a:ln/>
        </p:spPr>
        <p:txBody>
          <a:bodyPr wrap="none" lIns="0" tIns="0" rIns="0" bIns="0" rtlCol="0" anchor="t"/>
          <a:lstStyle/>
          <a:p>
            <a:pPr algn="l" indent="0" marL="0">
              <a:lnSpc>
                <a:spcPct val="108000"/>
              </a:lnSpc>
              <a:buNone/>
            </a:pPr>
            <a:r>
              <a:rPr lang="en-US" sz="1700" dirty="0">
                <a:solidFill>
                  <a:srgbClr val="FFFFFF"/>
                </a:solidFill>
                <a:latin typeface="JetBrains Mono Medium" pitchFamily="34" charset="0"/>
                <a:ea typeface="JetBrains Mono Medium" pitchFamily="34" charset="-122"/>
                <a:cs typeface="JetBrains Mono Medium" pitchFamily="34" charset="-120"/>
              </a:rPr>
              <a:t>Configuration drift</a:t>
            </a:r>
            <a:endParaRPr lang="en-US" sz="1700" dirty="0"/>
          </a:p>
        </p:txBody>
      </p:sp>
      <p:sp>
        <p:nvSpPr>
          <p:cNvPr id="11" name="Text 7"/>
          <p:cNvSpPr/>
          <p:nvPr/>
        </p:nvSpPr>
        <p:spPr>
          <a:xfrm>
            <a:off x="939776" y="4265315"/>
            <a:ext cx="4927477" cy="552450"/>
          </a:xfrm>
          <a:prstGeom prst="rect">
            <a:avLst/>
          </a:prstGeom>
          <a:noFill/>
          <a:ln/>
        </p:spPr>
        <p:txBody>
          <a:bodyPr wrap="square" lIns="0" tIns="0" rIns="0" bIns="0" rtlCol="0" anchor="t">
            <a:normAutofit/>
          </a:bodyPr>
          <a:lstStyle/>
          <a:p>
            <a:pPr algn="l" indent="0" marL="0">
              <a:lnSpc>
                <a:spcPct val="121000"/>
              </a:lnSpc>
              <a:buNone/>
            </a:pPr>
            <a:r>
              <a:rPr lang="en-US" sz="1500" dirty="0">
                <a:solidFill>
                  <a:srgbClr val="FFFFFF"/>
                </a:solidFill>
                <a:latin typeface="JetBrains Mono" pitchFamily="34" charset="0"/>
                <a:ea typeface="JetBrains Mono" pitchFamily="34" charset="-122"/>
                <a:cs typeface="JetBrains Mono" pitchFamily="34" charset="-120"/>
              </a:rPr>
              <a:t>Servers end up with different versions and packages, causing production crashes.</a:t>
            </a:r>
            <a:endParaRPr lang="en-US" sz="1500" dirty="0"/>
          </a:p>
        </p:txBody>
      </p:sp>
      <p:sp>
        <p:nvSpPr>
          <p:cNvPr id="12" name="Text 8"/>
          <p:cNvSpPr/>
          <p:nvPr/>
        </p:nvSpPr>
        <p:spPr>
          <a:xfrm>
            <a:off x="6324442" y="1038027"/>
            <a:ext cx="5410065" cy="181570"/>
          </a:xfrm>
          <a:prstGeom prst="rect">
            <a:avLst/>
          </a:prstGeom>
          <a:noFill/>
          <a:ln/>
        </p:spPr>
        <p:txBody>
          <a:bodyPr wrap="none" lIns="0" tIns="0" rIns="0" bIns="0" rtlCol="0" anchor="t"/>
          <a:lstStyle/>
          <a:p>
            <a:pPr algn="l" indent="0" marL="0">
              <a:lnSpc>
                <a:spcPct val="108000"/>
              </a:lnSpc>
              <a:buNone/>
            </a:pPr>
            <a:r>
              <a:rPr lang="en-US" sz="1100" spc="88" kern="0" dirty="0">
                <a:solidFill>
                  <a:srgbClr val="A9BEE6"/>
                </a:solidFill>
                <a:latin typeface="JetBrains Mono Medium" pitchFamily="34" charset="0"/>
                <a:ea typeface="JetBrains Mono Medium" pitchFamily="34" charset="-122"/>
                <a:cs typeface="JetBrains Mono Medium" pitchFamily="34" charset="-120"/>
              </a:rPr>
              <a:t>THE DEVOPS SOLUTION</a:t>
            </a:r>
            <a:endParaRPr lang="en-US" sz="1100" dirty="0"/>
          </a:p>
        </p:txBody>
      </p:sp>
      <p:sp>
        <p:nvSpPr>
          <p:cNvPr id="13" name="Shape 9"/>
          <p:cNvSpPr/>
          <p:nvPr/>
        </p:nvSpPr>
        <p:spPr>
          <a:xfrm>
            <a:off x="6324442" y="1383109"/>
            <a:ext cx="307372" cy="244475"/>
          </a:xfrm>
          <a:prstGeom prst="roundRect">
            <a:avLst>
              <a:gd name="adj" fmla="val 17142"/>
            </a:avLst>
          </a:prstGeom>
          <a:solidFill>
            <a:srgbClr val="FFFFFF"/>
          </a:solidFill>
          <a:ln/>
        </p:spPr>
        <p:txBody>
          <a:bodyPr/>
          <a:p/>
        </p:txBody>
      </p:sp>
      <p:sp>
        <p:nvSpPr>
          <p:cNvPr id="14" name="Text 10"/>
          <p:cNvSpPr/>
          <p:nvPr/>
        </p:nvSpPr>
        <p:spPr>
          <a:xfrm>
            <a:off x="6394290" y="1435497"/>
            <a:ext cx="777260" cy="139700"/>
          </a:xfrm>
          <a:prstGeom prst="rect">
            <a:avLst/>
          </a:prstGeom>
          <a:noFill/>
          <a:ln/>
        </p:spPr>
        <p:txBody>
          <a:bodyPr wrap="none" lIns="0" tIns="0" rIns="0" bIns="0" rtlCol="0" anchor="t"/>
          <a:lstStyle/>
          <a:p>
            <a:pPr algn="l" indent="0" marL="0">
              <a:lnSpc>
                <a:spcPct val="83000"/>
              </a:lnSpc>
              <a:buNone/>
            </a:pPr>
            <a:r>
              <a:rPr lang="en-US" sz="1100" dirty="0">
                <a:solidFill>
                  <a:srgbClr val="0F3F8E"/>
                </a:solidFill>
                <a:latin typeface="JetBrains Mono SemiBold" pitchFamily="34" charset="0"/>
                <a:ea typeface="JetBrains Mono SemiBold" pitchFamily="34" charset="-122"/>
                <a:cs typeface="JetBrains Mono SemiBold" pitchFamily="34" charset="-120"/>
              </a:rPr>
              <a:t>01</a:t>
            </a:r>
            <a:endParaRPr lang="en-US" sz="1100" dirty="0"/>
          </a:p>
        </p:txBody>
      </p:sp>
      <p:sp>
        <p:nvSpPr>
          <p:cNvPr id="15" name="Text 11"/>
          <p:cNvSpPr/>
          <p:nvPr/>
        </p:nvSpPr>
        <p:spPr>
          <a:xfrm>
            <a:off x="6784210" y="1333897"/>
            <a:ext cx="4950296" cy="280591"/>
          </a:xfrm>
          <a:prstGeom prst="rect">
            <a:avLst/>
          </a:prstGeom>
          <a:noFill/>
          <a:ln/>
        </p:spPr>
        <p:txBody>
          <a:bodyPr wrap="none" lIns="0" tIns="0" rIns="0" bIns="0" rtlCol="0" anchor="t"/>
          <a:lstStyle/>
          <a:p>
            <a:pPr algn="l" indent="0" marL="0">
              <a:lnSpc>
                <a:spcPct val="108000"/>
              </a:lnSpc>
              <a:buNone/>
            </a:pPr>
            <a:r>
              <a:rPr lang="en-US" sz="1700" dirty="0">
                <a:solidFill>
                  <a:srgbClr val="FFFFFF"/>
                </a:solidFill>
                <a:latin typeface="JetBrains Mono Medium" pitchFamily="34" charset="0"/>
                <a:ea typeface="JetBrains Mono Medium" pitchFamily="34" charset="-122"/>
                <a:cs typeface="JetBrains Mono Medium" pitchFamily="34" charset="-120"/>
              </a:rPr>
              <a:t>Infrastructure as Code (IaC)</a:t>
            </a:r>
            <a:endParaRPr lang="en-US" sz="1700" dirty="0"/>
          </a:p>
        </p:txBody>
      </p:sp>
      <p:sp>
        <p:nvSpPr>
          <p:cNvPr id="16" name="Text 12"/>
          <p:cNvSpPr/>
          <p:nvPr/>
        </p:nvSpPr>
        <p:spPr>
          <a:xfrm>
            <a:off x="6784210" y="1757362"/>
            <a:ext cx="4950296" cy="552450"/>
          </a:xfrm>
          <a:prstGeom prst="rect">
            <a:avLst/>
          </a:prstGeom>
          <a:noFill/>
          <a:ln/>
        </p:spPr>
        <p:txBody>
          <a:bodyPr wrap="square" lIns="0" tIns="0" rIns="0" bIns="0" rtlCol="0" anchor="t">
            <a:normAutofit/>
          </a:bodyPr>
          <a:lstStyle/>
          <a:p>
            <a:pPr algn="l" indent="0" marL="0">
              <a:lnSpc>
                <a:spcPct val="121000"/>
              </a:lnSpc>
              <a:buNone/>
            </a:pPr>
            <a:r>
              <a:rPr lang="en-US" sz="1500" dirty="0">
                <a:solidFill>
                  <a:srgbClr val="FFFFFF"/>
                </a:solidFill>
                <a:latin typeface="JetBrains Mono" pitchFamily="34" charset="0"/>
                <a:ea typeface="JetBrains Mono" pitchFamily="34" charset="-122"/>
                <a:cs typeface="JetBrains Mono" pitchFamily="34" charset="-120"/>
              </a:rPr>
              <a:t>Server configurations are written as repeatable code files.</a:t>
            </a:r>
            <a:endParaRPr lang="en-US" sz="1500" dirty="0"/>
          </a:p>
        </p:txBody>
      </p:sp>
      <p:sp>
        <p:nvSpPr>
          <p:cNvPr id="17" name="Shape 13"/>
          <p:cNvSpPr/>
          <p:nvPr/>
        </p:nvSpPr>
        <p:spPr>
          <a:xfrm>
            <a:off x="6324442" y="2816225"/>
            <a:ext cx="307372" cy="244475"/>
          </a:xfrm>
          <a:prstGeom prst="roundRect">
            <a:avLst>
              <a:gd name="adj" fmla="val 17142"/>
            </a:avLst>
          </a:prstGeom>
          <a:solidFill>
            <a:srgbClr val="FFFFFF"/>
          </a:solidFill>
          <a:ln/>
        </p:spPr>
        <p:txBody>
          <a:bodyPr/>
          <a:p/>
        </p:txBody>
      </p:sp>
      <p:sp>
        <p:nvSpPr>
          <p:cNvPr id="18" name="Text 14"/>
          <p:cNvSpPr/>
          <p:nvPr/>
        </p:nvSpPr>
        <p:spPr>
          <a:xfrm>
            <a:off x="6394290" y="2868613"/>
            <a:ext cx="777260" cy="139700"/>
          </a:xfrm>
          <a:prstGeom prst="rect">
            <a:avLst/>
          </a:prstGeom>
          <a:noFill/>
          <a:ln/>
        </p:spPr>
        <p:txBody>
          <a:bodyPr wrap="none" lIns="0" tIns="0" rIns="0" bIns="0" rtlCol="0" anchor="t"/>
          <a:lstStyle/>
          <a:p>
            <a:pPr algn="l" indent="0" marL="0">
              <a:lnSpc>
                <a:spcPct val="83000"/>
              </a:lnSpc>
              <a:buNone/>
            </a:pPr>
            <a:r>
              <a:rPr lang="en-US" sz="1100" dirty="0">
                <a:solidFill>
                  <a:srgbClr val="0F3F8E"/>
                </a:solidFill>
                <a:latin typeface="JetBrains Mono SemiBold" pitchFamily="34" charset="0"/>
                <a:ea typeface="JetBrains Mono SemiBold" pitchFamily="34" charset="-122"/>
                <a:cs typeface="JetBrains Mono SemiBold" pitchFamily="34" charset="-120"/>
              </a:rPr>
              <a:t>02</a:t>
            </a:r>
            <a:endParaRPr lang="en-US" sz="1100" dirty="0"/>
          </a:p>
        </p:txBody>
      </p:sp>
      <p:sp>
        <p:nvSpPr>
          <p:cNvPr id="19" name="Text 15"/>
          <p:cNvSpPr/>
          <p:nvPr/>
        </p:nvSpPr>
        <p:spPr>
          <a:xfrm>
            <a:off x="6784210" y="2767013"/>
            <a:ext cx="4950296" cy="280591"/>
          </a:xfrm>
          <a:prstGeom prst="rect">
            <a:avLst/>
          </a:prstGeom>
          <a:noFill/>
          <a:ln/>
        </p:spPr>
        <p:txBody>
          <a:bodyPr wrap="none" lIns="0" tIns="0" rIns="0" bIns="0" rtlCol="0" anchor="t"/>
          <a:lstStyle/>
          <a:p>
            <a:pPr algn="l" indent="0" marL="0">
              <a:lnSpc>
                <a:spcPct val="108000"/>
              </a:lnSpc>
              <a:buNone/>
            </a:pPr>
            <a:r>
              <a:rPr lang="en-US" sz="1700" dirty="0">
                <a:solidFill>
                  <a:srgbClr val="FFFFFF"/>
                </a:solidFill>
                <a:latin typeface="JetBrains Mono Medium" pitchFamily="34" charset="0"/>
                <a:ea typeface="JetBrains Mono Medium" pitchFamily="34" charset="-122"/>
                <a:cs typeface="JetBrains Mono Medium" pitchFamily="34" charset="-120"/>
              </a:rPr>
              <a:t>Idempotency</a:t>
            </a:r>
            <a:endParaRPr lang="en-US" sz="1700" dirty="0"/>
          </a:p>
        </p:txBody>
      </p:sp>
      <p:sp>
        <p:nvSpPr>
          <p:cNvPr id="20" name="Text 16"/>
          <p:cNvSpPr/>
          <p:nvPr/>
        </p:nvSpPr>
        <p:spPr>
          <a:xfrm>
            <a:off x="6784210" y="3190478"/>
            <a:ext cx="4950296" cy="552450"/>
          </a:xfrm>
          <a:prstGeom prst="rect">
            <a:avLst/>
          </a:prstGeom>
          <a:noFill/>
          <a:ln/>
        </p:spPr>
        <p:txBody>
          <a:bodyPr wrap="square" lIns="0" tIns="0" rIns="0" bIns="0" rtlCol="0" anchor="t">
            <a:normAutofit/>
          </a:bodyPr>
          <a:lstStyle/>
          <a:p>
            <a:pPr algn="l" indent="0" marL="0">
              <a:lnSpc>
                <a:spcPct val="121000"/>
              </a:lnSpc>
              <a:buNone/>
            </a:pPr>
            <a:r>
              <a:rPr lang="en-US" sz="1500" dirty="0">
                <a:solidFill>
                  <a:srgbClr val="FFFFFF"/>
                </a:solidFill>
                <a:latin typeface="JetBrains Mono" pitchFamily="34" charset="0"/>
                <a:ea typeface="JetBrains Mono" pitchFamily="34" charset="-122"/>
                <a:cs typeface="JetBrains Mono" pitchFamily="34" charset="-120"/>
              </a:rPr>
              <a:t>Applying a configuration multiple times gives the exact same result without errors.</a:t>
            </a:r>
            <a:endParaRPr lang="en-US" sz="1500" dirty="0"/>
          </a:p>
        </p:txBody>
      </p:sp>
      <p:sp>
        <p:nvSpPr>
          <p:cNvPr id="21" name="Shape 17"/>
          <p:cNvSpPr/>
          <p:nvPr/>
        </p:nvSpPr>
        <p:spPr>
          <a:xfrm>
            <a:off x="6324442" y="4249341"/>
            <a:ext cx="307372" cy="244475"/>
          </a:xfrm>
          <a:prstGeom prst="roundRect">
            <a:avLst>
              <a:gd name="adj" fmla="val 17142"/>
            </a:avLst>
          </a:prstGeom>
          <a:solidFill>
            <a:srgbClr val="FFFFFF"/>
          </a:solidFill>
          <a:ln/>
        </p:spPr>
        <p:txBody>
          <a:bodyPr/>
          <a:p/>
        </p:txBody>
      </p:sp>
      <p:sp>
        <p:nvSpPr>
          <p:cNvPr id="22" name="Text 18"/>
          <p:cNvSpPr/>
          <p:nvPr/>
        </p:nvSpPr>
        <p:spPr>
          <a:xfrm>
            <a:off x="6394290" y="4301728"/>
            <a:ext cx="777260" cy="139700"/>
          </a:xfrm>
          <a:prstGeom prst="rect">
            <a:avLst/>
          </a:prstGeom>
          <a:noFill/>
          <a:ln/>
        </p:spPr>
        <p:txBody>
          <a:bodyPr wrap="none" lIns="0" tIns="0" rIns="0" bIns="0" rtlCol="0" anchor="t"/>
          <a:lstStyle/>
          <a:p>
            <a:pPr algn="l" indent="0" marL="0">
              <a:lnSpc>
                <a:spcPct val="83000"/>
              </a:lnSpc>
              <a:buNone/>
            </a:pPr>
            <a:r>
              <a:rPr lang="en-US" sz="1100" dirty="0">
                <a:solidFill>
                  <a:srgbClr val="0F3F8E"/>
                </a:solidFill>
                <a:latin typeface="JetBrains Mono SemiBold" pitchFamily="34" charset="0"/>
                <a:ea typeface="JetBrains Mono SemiBold" pitchFamily="34" charset="-122"/>
                <a:cs typeface="JetBrains Mono SemiBold" pitchFamily="34" charset="-120"/>
              </a:rPr>
              <a:t>03</a:t>
            </a:r>
            <a:endParaRPr lang="en-US" sz="1100" dirty="0"/>
          </a:p>
        </p:txBody>
      </p:sp>
      <p:sp>
        <p:nvSpPr>
          <p:cNvPr id="23" name="Text 19"/>
          <p:cNvSpPr/>
          <p:nvPr/>
        </p:nvSpPr>
        <p:spPr>
          <a:xfrm>
            <a:off x="6784210" y="4200128"/>
            <a:ext cx="4950296" cy="280591"/>
          </a:xfrm>
          <a:prstGeom prst="rect">
            <a:avLst/>
          </a:prstGeom>
          <a:noFill/>
          <a:ln/>
        </p:spPr>
        <p:txBody>
          <a:bodyPr wrap="none" lIns="0" tIns="0" rIns="0" bIns="0" rtlCol="0" anchor="t"/>
          <a:lstStyle/>
          <a:p>
            <a:pPr algn="l" indent="0" marL="0">
              <a:lnSpc>
                <a:spcPct val="108000"/>
              </a:lnSpc>
              <a:buNone/>
            </a:pPr>
            <a:r>
              <a:rPr lang="en-US" sz="1700" dirty="0">
                <a:solidFill>
                  <a:srgbClr val="FFFFFF"/>
                </a:solidFill>
                <a:latin typeface="JetBrains Mono Medium" pitchFamily="34" charset="0"/>
                <a:ea typeface="JetBrains Mono Medium" pitchFamily="34" charset="-122"/>
                <a:cs typeface="JetBrains Mono Medium" pitchFamily="34" charset="-120"/>
              </a:rPr>
              <a:t>Centralized control</a:t>
            </a:r>
            <a:endParaRPr lang="en-US" sz="1700" dirty="0"/>
          </a:p>
        </p:txBody>
      </p:sp>
      <p:sp>
        <p:nvSpPr>
          <p:cNvPr id="24" name="Text 20"/>
          <p:cNvSpPr/>
          <p:nvPr/>
        </p:nvSpPr>
        <p:spPr>
          <a:xfrm>
            <a:off x="6784210" y="4623594"/>
            <a:ext cx="4950296" cy="552450"/>
          </a:xfrm>
          <a:prstGeom prst="rect">
            <a:avLst/>
          </a:prstGeom>
          <a:noFill/>
          <a:ln/>
        </p:spPr>
        <p:txBody>
          <a:bodyPr wrap="square" lIns="0" tIns="0" rIns="0" bIns="0" rtlCol="0" anchor="t">
            <a:normAutofit/>
          </a:bodyPr>
          <a:lstStyle/>
          <a:p>
            <a:pPr algn="l" indent="0" marL="0">
              <a:lnSpc>
                <a:spcPct val="121000"/>
              </a:lnSpc>
              <a:buNone/>
            </a:pPr>
            <a:r>
              <a:rPr lang="en-US" sz="1500" dirty="0">
                <a:solidFill>
                  <a:srgbClr val="FFFFFF"/>
                </a:solidFill>
                <a:latin typeface="JetBrains Mono" pitchFamily="34" charset="0"/>
                <a:ea typeface="JetBrains Mono" pitchFamily="34" charset="-122"/>
                <a:cs typeface="JetBrains Mono" pitchFamily="34" charset="-120"/>
              </a:rPr>
              <a:t>Configure 1,000 servers automatically from one central machine.</a:t>
            </a:r>
            <a:endParaRPr lang="en-US" sz="1500" dirty="0"/>
          </a:p>
        </p:txBody>
      </p:sp>
      <p:sp>
        <p:nvSpPr>
          <p:cNvPr id="25" name="Shape 21"/>
          <p:cNvSpPr/>
          <p:nvPr/>
        </p:nvSpPr>
        <p:spPr>
          <a:xfrm>
            <a:off x="457189" y="5353844"/>
            <a:ext cx="11277318" cy="917972"/>
          </a:xfrm>
          <a:prstGeom prst="roundRect">
            <a:avLst>
              <a:gd name="adj" fmla="val 1245"/>
            </a:avLst>
          </a:prstGeom>
          <a:solidFill>
            <a:srgbClr val="803800"/>
          </a:solidFill>
          <a:ln/>
        </p:spPr>
        <p:txBody>
          <a:bodyPr/>
          <a:p/>
        </p:txBody>
      </p:sp>
      <p:sp>
        <p:nvSpPr>
          <p:cNvPr id="26" name="Text 22"/>
          <p:cNvSpPr/>
          <p:nvPr/>
        </p:nvSpPr>
        <p:spPr>
          <a:xfrm>
            <a:off x="647684" y="5591969"/>
            <a:ext cx="10896327" cy="441722"/>
          </a:xfrm>
          <a:prstGeom prst="rect">
            <a:avLst/>
          </a:prstGeom>
          <a:noFill/>
          <a:ln/>
        </p:spPr>
        <p:txBody>
          <a:bodyPr wrap="square" lIns="0" tIns="0" rIns="0" bIns="0" rtlCol="0" anchor="t">
            <a:normAutofit/>
          </a:bodyPr>
          <a:lstStyle/>
          <a:p>
            <a:pPr algn="l" indent="0" marL="0">
              <a:lnSpc>
                <a:spcPct val="121000"/>
              </a:lnSpc>
              <a:buNone/>
            </a:pPr>
            <a:r>
              <a:rPr lang="en-US" sz="800" dirty="0">
                <a:solidFill>
                  <a:srgbClr val="FFFFFF"/>
                </a:solidFill>
                <a:latin typeface="JetBrains Mono" pitchFamily="34" charset="0"/>
                <a:ea typeface="JetBrains Mono" pitchFamily="34" charset="-122"/>
                <a:cs typeface="JetBrains Mono" pitchFamily="34" charset="-120"/>
              </a:rPr>
              <a:t>Earlier, engineers manually configured each server using shell scripts. This created 'configuration drift' where servers had different settings, causing crashes. DevOps deployment tools solve this using Infrastructure as Code. They make deployment automated, repeatable, and error-free across hundreds of servers. Now, Sooraj will explain our first tool: Chef.</a:t>
            </a:r>
            <a:endParaRPr lang="en-US" sz="800" dirty="0"/>
          </a:p>
        </p:txBody>
      </p:sp>
      <p:sp>
        <p:nvSpPr>
          <p:cNvPr id="27" name="Shape 23"/>
          <p:cNvSpPr/>
          <p:nvPr/>
        </p:nvSpPr>
        <p:spPr>
          <a:xfrm>
            <a:off x="0" y="6400800"/>
            <a:ext cx="12191695" cy="9525"/>
          </a:xfrm>
          <a:prstGeom prst="rect">
            <a:avLst/>
          </a:prstGeom>
          <a:solidFill>
            <a:srgbClr val="FFFFFF">
              <a:alpha val="20000"/>
            </a:srgbClr>
          </a:solidFill>
          <a:ln/>
        </p:spPr>
        <p:txBody>
          <a:bodyPr/>
          <a:p/>
        </p:txBody>
      </p:sp>
      <p:sp>
        <p:nvSpPr>
          <p:cNvPr id="29" name="Shape 25"/>
          <p:cNvSpPr/>
          <p:nvPr/>
        </p:nvSpPr>
        <p:spPr>
          <a:xfrm>
            <a:off x="457189" y="3248620"/>
            <a:ext cx="5410065" cy="12700"/>
          </a:xfrm>
          <a:prstGeom prst="rect">
            <a:avLst/>
          </a:prstGeom>
          <a:solidFill>
            <a:srgbClr val="FFFFFF"/>
          </a:solidFill>
          <a:ln/>
        </p:spPr>
        <p:txBody>
          <a:bodyPr/>
          <a:p/>
        </p:txBody>
      </p:sp>
      <p:sp>
        <p:nvSpPr>
          <p:cNvPr id="30" name="Shape 26"/>
          <p:cNvSpPr/>
          <p:nvPr/>
        </p:nvSpPr>
        <p:spPr>
          <a:xfrm>
            <a:off x="6089498" y="1038027"/>
            <a:ext cx="12700" cy="4138017"/>
          </a:xfrm>
          <a:prstGeom prst="rect">
            <a:avLst/>
          </a:prstGeom>
          <a:solidFill>
            <a:srgbClr val="FFFFFF"/>
          </a:solidFill>
          <a:ln/>
        </p:spPr>
        <p:txBody>
          <a:bodyPr/>
          <a:p/>
        </p:txBody>
      </p:sp>
      <p:sp>
        <p:nvSpPr>
          <p:cNvPr id="31" name="Shape 27"/>
          <p:cNvSpPr/>
          <p:nvPr/>
        </p:nvSpPr>
        <p:spPr>
          <a:xfrm>
            <a:off x="6324442" y="2532063"/>
            <a:ext cx="5410065" cy="12700"/>
          </a:xfrm>
          <a:prstGeom prst="rect">
            <a:avLst/>
          </a:prstGeom>
          <a:solidFill>
            <a:srgbClr val="FFFFFF"/>
          </a:solidFill>
          <a:ln/>
        </p:spPr>
        <p:txBody>
          <a:bodyPr/>
          <a:p/>
        </p:txBody>
      </p:sp>
      <p:sp>
        <p:nvSpPr>
          <p:cNvPr id="32" name="Shape 28"/>
          <p:cNvSpPr/>
          <p:nvPr/>
        </p:nvSpPr>
        <p:spPr>
          <a:xfrm>
            <a:off x="6324442" y="3965178"/>
            <a:ext cx="5410065" cy="12700"/>
          </a:xfrm>
          <a:prstGeom prst="rect">
            <a:avLst/>
          </a:prstGeom>
          <a:solidFill>
            <a:srgbClr val="FFFFFF"/>
          </a:solidFill>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189" y="457200"/>
            <a:ext cx="11277318" cy="382290"/>
          </a:xfrm>
          <a:prstGeom prst="rect">
            <a:avLst/>
          </a:prstGeom>
          <a:noFill/>
          <a:ln/>
        </p:spPr>
        <p:txBody>
          <a:bodyPr wrap="none" lIns="0" tIns="0" rIns="0" bIns="0" rtlCol="0" anchor="t"/>
          <a:lstStyle/>
          <a:p>
            <a:pPr algn="l" indent="0" marL="0">
              <a:lnSpc>
                <a:spcPct val="90000"/>
              </a:lnSpc>
              <a:buNone/>
            </a:pPr>
            <a:r>
              <a:rPr lang="en-US" sz="2800" b="1" spc="84" kern="0" dirty="0">
                <a:solidFill>
                  <a:srgbClr val="FFFFFF"/>
                </a:solidFill>
                <a:latin typeface="Martian Mono Bold" pitchFamily="34" charset="0"/>
                <a:ea typeface="Martian Mono Bold" pitchFamily="34" charset="-122"/>
                <a:cs typeface="Martian Mono Bold" pitchFamily="34" charset="-120"/>
              </a:rPr>
              <a:t>CHEF – ARCHITECTURE &amp; PULL MODEL</a:t>
            </a:r>
            <a:endParaRPr lang="en-US" sz="2800" dirty="0"/>
          </a:p>
        </p:txBody>
      </p:sp>
      <p:pic>
        <p:nvPicPr>
          <p:cNvPr id="3" name="Image 0" descr="preencoded.png">    </p:cNvPr>
          <p:cNvPicPr>
            <a:picLocks noChangeAspect="1"/>
          </p:cNvPicPr>
          <p:nvPr/>
        </p:nvPicPr>
        <p:blipFill>
          <a:blip r:embed="rId1"/>
          <a:stretch>
            <a:fillRect/>
          </a:stretch>
        </p:blipFill>
        <p:spPr>
          <a:xfrm>
            <a:off x="457189" y="1296095"/>
            <a:ext cx="6547381" cy="3682901"/>
          </a:xfrm>
          <a:prstGeom prst="rect">
            <a:avLst/>
          </a:prstGeom>
        </p:spPr>
      </p:pic>
      <p:sp>
        <p:nvSpPr>
          <p:cNvPr id="4" name="Text 1"/>
          <p:cNvSpPr/>
          <p:nvPr/>
        </p:nvSpPr>
        <p:spPr>
          <a:xfrm>
            <a:off x="457189" y="5057577"/>
            <a:ext cx="6949306" cy="361553"/>
          </a:xfrm>
          <a:prstGeom prst="rect">
            <a:avLst/>
          </a:prstGeom>
          <a:noFill/>
          <a:ln/>
        </p:spPr>
        <p:txBody>
          <a:bodyPr wrap="square" lIns="0" tIns="0" rIns="0" bIns="0" rtlCol="0" anchor="t">
            <a:normAutofit/>
          </a:bodyPr>
          <a:lstStyle/>
          <a:p>
            <a:pPr algn="l" indent="0" marL="0">
              <a:lnSpc>
                <a:spcPct val="108000"/>
              </a:lnSpc>
              <a:buNone/>
            </a:pPr>
            <a:r>
              <a:rPr lang="en-US" sz="1100" spc="11" kern="0" dirty="0">
                <a:solidFill>
                  <a:srgbClr val="A9BEE6"/>
                </a:solidFill>
                <a:latin typeface="JetBrains Mono" pitchFamily="34" charset="0"/>
                <a:ea typeface="JetBrains Mono" pitchFamily="34" charset="-122"/>
                <a:cs typeface="JetBrains Mono" pitchFamily="34" charset="-120"/>
              </a:rPr>
              <a:t>Client-server pull model: nodes retrieve their instructions from the central server.</a:t>
            </a:r>
            <a:endParaRPr lang="en-US" sz="1100" dirty="0"/>
          </a:p>
        </p:txBody>
      </p:sp>
      <p:sp>
        <p:nvSpPr>
          <p:cNvPr id="5" name="Text 2"/>
          <p:cNvSpPr/>
          <p:nvPr/>
        </p:nvSpPr>
        <p:spPr>
          <a:xfrm>
            <a:off x="7711188" y="1034554"/>
            <a:ext cx="4023319" cy="180777"/>
          </a:xfrm>
          <a:prstGeom prst="rect">
            <a:avLst/>
          </a:prstGeom>
          <a:noFill/>
          <a:ln/>
        </p:spPr>
        <p:txBody>
          <a:bodyPr wrap="none" lIns="0" tIns="0" rIns="0" bIns="0" rtlCol="0" anchor="t"/>
          <a:lstStyle/>
          <a:p>
            <a:pPr algn="l" indent="0" marL="0">
              <a:lnSpc>
                <a:spcPct val="108000"/>
              </a:lnSpc>
              <a:buNone/>
            </a:pPr>
            <a:r>
              <a:rPr lang="en-US" sz="1100" spc="88" kern="0" dirty="0">
                <a:solidFill>
                  <a:srgbClr val="A9BEE6"/>
                </a:solidFill>
                <a:latin typeface="JetBrains Mono Medium" pitchFamily="34" charset="0"/>
                <a:ea typeface="JetBrains Mono Medium" pitchFamily="34" charset="-122"/>
                <a:cs typeface="JetBrains Mono Medium" pitchFamily="34" charset="-120"/>
              </a:rPr>
              <a:t>CODE LANGUAGE</a:t>
            </a:r>
            <a:endParaRPr lang="en-US" sz="1100" dirty="0"/>
          </a:p>
        </p:txBody>
      </p:sp>
      <p:sp>
        <p:nvSpPr>
          <p:cNvPr id="6" name="Text 3"/>
          <p:cNvSpPr/>
          <p:nvPr/>
        </p:nvSpPr>
        <p:spPr>
          <a:xfrm>
            <a:off x="7711188" y="1328539"/>
            <a:ext cx="4023319" cy="274241"/>
          </a:xfrm>
          <a:prstGeom prst="rect">
            <a:avLst/>
          </a:prstGeom>
          <a:noFill/>
          <a:ln/>
        </p:spPr>
        <p:txBody>
          <a:bodyPr wrap="none" lIns="0" tIns="0" rIns="0" bIns="0" rtlCol="0" anchor="t"/>
          <a:lstStyle/>
          <a:p>
            <a:pPr algn="l" indent="0" marL="0">
              <a:lnSpc>
                <a:spcPct val="121000"/>
              </a:lnSpc>
              <a:buNone/>
            </a:pPr>
            <a:r>
              <a:rPr lang="en-US" sz="1500" b="1" dirty="0">
                <a:solidFill>
                  <a:srgbClr val="FFFFFF"/>
                </a:solidFill>
                <a:latin typeface="JetBrains Mono Bold" pitchFamily="34" charset="0"/>
                <a:ea typeface="JetBrains Mono Bold" pitchFamily="34" charset="-122"/>
                <a:cs typeface="JetBrains Mono Bold" pitchFamily="34" charset="-120"/>
              </a:rPr>
              <a:t>Ruby (Ruby DSL)</a:t>
            </a:r>
            <a:endParaRPr lang="en-US" sz="1500" dirty="0"/>
          </a:p>
        </p:txBody>
      </p:sp>
      <p:sp>
        <p:nvSpPr>
          <p:cNvPr id="7" name="Shape 4"/>
          <p:cNvSpPr/>
          <p:nvPr/>
        </p:nvSpPr>
        <p:spPr>
          <a:xfrm>
            <a:off x="7711188" y="1765201"/>
            <a:ext cx="307372" cy="244475"/>
          </a:xfrm>
          <a:prstGeom prst="roundRect">
            <a:avLst>
              <a:gd name="adj" fmla="val 17142"/>
            </a:avLst>
          </a:prstGeom>
          <a:solidFill>
            <a:srgbClr val="FFFFFF"/>
          </a:solidFill>
          <a:ln/>
        </p:spPr>
        <p:txBody>
          <a:bodyPr/>
          <a:p/>
        </p:txBody>
      </p:sp>
      <p:sp>
        <p:nvSpPr>
          <p:cNvPr id="8" name="Text 5"/>
          <p:cNvSpPr/>
          <p:nvPr/>
        </p:nvSpPr>
        <p:spPr>
          <a:xfrm>
            <a:off x="7781036" y="1817588"/>
            <a:ext cx="777260" cy="139700"/>
          </a:xfrm>
          <a:prstGeom prst="rect">
            <a:avLst/>
          </a:prstGeom>
          <a:noFill/>
          <a:ln/>
        </p:spPr>
        <p:txBody>
          <a:bodyPr wrap="none" lIns="0" tIns="0" rIns="0" bIns="0" rtlCol="0" anchor="t"/>
          <a:lstStyle/>
          <a:p>
            <a:pPr algn="l" indent="0" marL="0">
              <a:lnSpc>
                <a:spcPct val="83000"/>
              </a:lnSpc>
              <a:buNone/>
            </a:pPr>
            <a:r>
              <a:rPr lang="en-US" sz="1100" dirty="0">
                <a:solidFill>
                  <a:srgbClr val="0F3F8E"/>
                </a:solidFill>
                <a:latin typeface="JetBrains Mono SemiBold" pitchFamily="34" charset="0"/>
                <a:ea typeface="JetBrains Mono SemiBold" pitchFamily="34" charset="-122"/>
                <a:cs typeface="JetBrains Mono SemiBold" pitchFamily="34" charset="-120"/>
              </a:rPr>
              <a:t>01</a:t>
            </a:r>
            <a:endParaRPr lang="en-US" sz="1100" dirty="0"/>
          </a:p>
        </p:txBody>
      </p:sp>
      <p:sp>
        <p:nvSpPr>
          <p:cNvPr id="9" name="Text 6"/>
          <p:cNvSpPr/>
          <p:nvPr/>
        </p:nvSpPr>
        <p:spPr>
          <a:xfrm>
            <a:off x="8170956" y="1715988"/>
            <a:ext cx="3563551" cy="279301"/>
          </a:xfrm>
          <a:prstGeom prst="rect">
            <a:avLst/>
          </a:prstGeom>
          <a:noFill/>
          <a:ln/>
        </p:spPr>
        <p:txBody>
          <a:bodyPr wrap="none" lIns="0" tIns="0" rIns="0" bIns="0" rtlCol="0" anchor="t"/>
          <a:lstStyle/>
          <a:p>
            <a:pPr algn="l" indent="0" marL="0">
              <a:lnSpc>
                <a:spcPct val="108000"/>
              </a:lnSpc>
              <a:buNone/>
            </a:pPr>
            <a:r>
              <a:rPr lang="en-US" sz="1700" dirty="0">
                <a:solidFill>
                  <a:srgbClr val="FFFFFF"/>
                </a:solidFill>
                <a:latin typeface="JetBrains Mono Medium" pitchFamily="34" charset="0"/>
                <a:ea typeface="JetBrains Mono Medium" pitchFamily="34" charset="-122"/>
                <a:cs typeface="JetBrains Mono Medium" pitchFamily="34" charset="-120"/>
              </a:rPr>
              <a:t>Chef Workstation</a:t>
            </a:r>
            <a:endParaRPr lang="en-US" sz="1700" dirty="0"/>
          </a:p>
        </p:txBody>
      </p:sp>
      <p:sp>
        <p:nvSpPr>
          <p:cNvPr id="10" name="Text 7"/>
          <p:cNvSpPr/>
          <p:nvPr/>
        </p:nvSpPr>
        <p:spPr>
          <a:xfrm>
            <a:off x="8170956" y="2136874"/>
            <a:ext cx="3563551" cy="180777"/>
          </a:xfrm>
          <a:prstGeom prst="rect">
            <a:avLst/>
          </a:prstGeom>
          <a:noFill/>
          <a:ln/>
        </p:spPr>
        <p:txBody>
          <a:bodyPr wrap="none" lIns="0" tIns="0" rIns="0" bIns="0" rtlCol="0" anchor="t"/>
          <a:lstStyle/>
          <a:p>
            <a:pPr algn="l" indent="0" marL="0">
              <a:lnSpc>
                <a:spcPct val="108000"/>
              </a:lnSpc>
              <a:buNone/>
            </a:pPr>
            <a:r>
              <a:rPr lang="en-US" sz="1100" spc="11" kern="0" dirty="0">
                <a:solidFill>
                  <a:srgbClr val="A9BEE6"/>
                </a:solidFill>
                <a:latin typeface="JetBrains Mono" pitchFamily="34" charset="0"/>
                <a:ea typeface="JetBrains Mono" pitchFamily="34" charset="-122"/>
                <a:cs typeface="JetBrains Mono" pitchFamily="34" charset="-120"/>
              </a:rPr>
              <a:t>Developers write and test configurations.</a:t>
            </a:r>
            <a:endParaRPr lang="en-US" sz="1100" dirty="0"/>
          </a:p>
        </p:txBody>
      </p:sp>
      <p:sp>
        <p:nvSpPr>
          <p:cNvPr id="11" name="Shape 8"/>
          <p:cNvSpPr/>
          <p:nvPr/>
        </p:nvSpPr>
        <p:spPr>
          <a:xfrm>
            <a:off x="7711188" y="2824063"/>
            <a:ext cx="307372" cy="244475"/>
          </a:xfrm>
          <a:prstGeom prst="roundRect">
            <a:avLst>
              <a:gd name="adj" fmla="val 17142"/>
            </a:avLst>
          </a:prstGeom>
          <a:solidFill>
            <a:srgbClr val="FFFFFF"/>
          </a:solidFill>
          <a:ln/>
        </p:spPr>
        <p:txBody>
          <a:bodyPr/>
          <a:p/>
        </p:txBody>
      </p:sp>
      <p:sp>
        <p:nvSpPr>
          <p:cNvPr id="12" name="Text 9"/>
          <p:cNvSpPr/>
          <p:nvPr/>
        </p:nvSpPr>
        <p:spPr>
          <a:xfrm>
            <a:off x="7781036" y="2876451"/>
            <a:ext cx="777260" cy="139700"/>
          </a:xfrm>
          <a:prstGeom prst="rect">
            <a:avLst/>
          </a:prstGeom>
          <a:noFill/>
          <a:ln/>
        </p:spPr>
        <p:txBody>
          <a:bodyPr wrap="none" lIns="0" tIns="0" rIns="0" bIns="0" rtlCol="0" anchor="t"/>
          <a:lstStyle/>
          <a:p>
            <a:pPr algn="l" indent="0" marL="0">
              <a:lnSpc>
                <a:spcPct val="83000"/>
              </a:lnSpc>
              <a:buNone/>
            </a:pPr>
            <a:r>
              <a:rPr lang="en-US" sz="1100" dirty="0">
                <a:solidFill>
                  <a:srgbClr val="0F3F8E"/>
                </a:solidFill>
                <a:latin typeface="JetBrains Mono SemiBold" pitchFamily="34" charset="0"/>
                <a:ea typeface="JetBrains Mono SemiBold" pitchFamily="34" charset="-122"/>
                <a:cs typeface="JetBrains Mono SemiBold" pitchFamily="34" charset="-120"/>
              </a:rPr>
              <a:t>02</a:t>
            </a:r>
            <a:endParaRPr lang="en-US" sz="1100" dirty="0"/>
          </a:p>
        </p:txBody>
      </p:sp>
      <p:sp>
        <p:nvSpPr>
          <p:cNvPr id="13" name="Text 10"/>
          <p:cNvSpPr/>
          <p:nvPr/>
        </p:nvSpPr>
        <p:spPr>
          <a:xfrm>
            <a:off x="8170956" y="2774851"/>
            <a:ext cx="3563551" cy="279301"/>
          </a:xfrm>
          <a:prstGeom prst="rect">
            <a:avLst/>
          </a:prstGeom>
          <a:noFill/>
          <a:ln/>
        </p:spPr>
        <p:txBody>
          <a:bodyPr wrap="none" lIns="0" tIns="0" rIns="0" bIns="0" rtlCol="0" anchor="t"/>
          <a:lstStyle/>
          <a:p>
            <a:pPr algn="l" indent="0" marL="0">
              <a:lnSpc>
                <a:spcPct val="108000"/>
              </a:lnSpc>
              <a:buNone/>
            </a:pPr>
            <a:r>
              <a:rPr lang="en-US" sz="1700" dirty="0">
                <a:solidFill>
                  <a:srgbClr val="FFFFFF"/>
                </a:solidFill>
                <a:latin typeface="JetBrains Mono Medium" pitchFamily="34" charset="0"/>
                <a:ea typeface="JetBrains Mono Medium" pitchFamily="34" charset="-122"/>
                <a:cs typeface="JetBrains Mono Medium" pitchFamily="34" charset="-120"/>
              </a:rPr>
              <a:t>Chef Server</a:t>
            </a:r>
            <a:endParaRPr lang="en-US" sz="1700" dirty="0"/>
          </a:p>
        </p:txBody>
      </p:sp>
      <p:sp>
        <p:nvSpPr>
          <p:cNvPr id="14" name="Text 11"/>
          <p:cNvSpPr/>
          <p:nvPr/>
        </p:nvSpPr>
        <p:spPr>
          <a:xfrm>
            <a:off x="8170956" y="3195737"/>
            <a:ext cx="3563551" cy="180777"/>
          </a:xfrm>
          <a:prstGeom prst="rect">
            <a:avLst/>
          </a:prstGeom>
          <a:noFill/>
          <a:ln/>
        </p:spPr>
        <p:txBody>
          <a:bodyPr wrap="none" lIns="0" tIns="0" rIns="0" bIns="0" rtlCol="0" anchor="t"/>
          <a:lstStyle/>
          <a:p>
            <a:pPr algn="l" indent="0" marL="0">
              <a:lnSpc>
                <a:spcPct val="108000"/>
              </a:lnSpc>
              <a:buNone/>
            </a:pPr>
            <a:r>
              <a:rPr lang="en-US" sz="1100" spc="11" kern="0" dirty="0">
                <a:solidFill>
                  <a:srgbClr val="A9BEE6"/>
                </a:solidFill>
                <a:latin typeface="JetBrains Mono" pitchFamily="34" charset="0"/>
                <a:ea typeface="JetBrains Mono" pitchFamily="34" charset="-122"/>
                <a:cs typeface="JetBrains Mono" pitchFamily="34" charset="-120"/>
              </a:rPr>
              <a:t>Stores policies, cookbooks, and node data.</a:t>
            </a:r>
            <a:endParaRPr lang="en-US" sz="1100" dirty="0"/>
          </a:p>
        </p:txBody>
      </p:sp>
      <p:sp>
        <p:nvSpPr>
          <p:cNvPr id="15" name="Shape 12"/>
          <p:cNvSpPr/>
          <p:nvPr/>
        </p:nvSpPr>
        <p:spPr>
          <a:xfrm>
            <a:off x="7711188" y="3882926"/>
            <a:ext cx="307372" cy="244475"/>
          </a:xfrm>
          <a:prstGeom prst="roundRect">
            <a:avLst>
              <a:gd name="adj" fmla="val 17142"/>
            </a:avLst>
          </a:prstGeom>
          <a:solidFill>
            <a:srgbClr val="FFFFFF"/>
          </a:solidFill>
          <a:ln/>
        </p:spPr>
        <p:txBody>
          <a:bodyPr/>
          <a:p/>
        </p:txBody>
      </p:sp>
      <p:sp>
        <p:nvSpPr>
          <p:cNvPr id="16" name="Text 13"/>
          <p:cNvSpPr/>
          <p:nvPr/>
        </p:nvSpPr>
        <p:spPr>
          <a:xfrm>
            <a:off x="7781036" y="3935313"/>
            <a:ext cx="777260" cy="139700"/>
          </a:xfrm>
          <a:prstGeom prst="rect">
            <a:avLst/>
          </a:prstGeom>
          <a:noFill/>
          <a:ln/>
        </p:spPr>
        <p:txBody>
          <a:bodyPr wrap="none" lIns="0" tIns="0" rIns="0" bIns="0" rtlCol="0" anchor="t"/>
          <a:lstStyle/>
          <a:p>
            <a:pPr algn="l" indent="0" marL="0">
              <a:lnSpc>
                <a:spcPct val="83000"/>
              </a:lnSpc>
              <a:buNone/>
            </a:pPr>
            <a:r>
              <a:rPr lang="en-US" sz="1100" dirty="0">
                <a:solidFill>
                  <a:srgbClr val="0F3F8E"/>
                </a:solidFill>
                <a:latin typeface="JetBrains Mono SemiBold" pitchFamily="34" charset="0"/>
                <a:ea typeface="JetBrains Mono SemiBold" pitchFamily="34" charset="-122"/>
                <a:cs typeface="JetBrains Mono SemiBold" pitchFamily="34" charset="-120"/>
              </a:rPr>
              <a:t>03</a:t>
            </a:r>
            <a:endParaRPr lang="en-US" sz="1100" dirty="0"/>
          </a:p>
        </p:txBody>
      </p:sp>
      <p:sp>
        <p:nvSpPr>
          <p:cNvPr id="17" name="Text 14"/>
          <p:cNvSpPr/>
          <p:nvPr/>
        </p:nvSpPr>
        <p:spPr>
          <a:xfrm>
            <a:off x="8170956" y="3833713"/>
            <a:ext cx="3563551" cy="279301"/>
          </a:xfrm>
          <a:prstGeom prst="rect">
            <a:avLst/>
          </a:prstGeom>
          <a:noFill/>
          <a:ln/>
        </p:spPr>
        <p:txBody>
          <a:bodyPr wrap="none" lIns="0" tIns="0" rIns="0" bIns="0" rtlCol="0" anchor="t"/>
          <a:lstStyle/>
          <a:p>
            <a:pPr algn="l" indent="0" marL="0">
              <a:lnSpc>
                <a:spcPct val="108000"/>
              </a:lnSpc>
              <a:buNone/>
            </a:pPr>
            <a:r>
              <a:rPr lang="en-US" sz="1700" dirty="0">
                <a:solidFill>
                  <a:srgbClr val="FFFFFF"/>
                </a:solidFill>
                <a:latin typeface="JetBrains Mono Medium" pitchFamily="34" charset="0"/>
                <a:ea typeface="JetBrains Mono Medium" pitchFamily="34" charset="-122"/>
                <a:cs typeface="JetBrains Mono Medium" pitchFamily="34" charset="-120"/>
              </a:rPr>
              <a:t>Chef Nodes (Clients)</a:t>
            </a:r>
            <a:endParaRPr lang="en-US" sz="1700" dirty="0"/>
          </a:p>
        </p:txBody>
      </p:sp>
      <p:sp>
        <p:nvSpPr>
          <p:cNvPr id="18" name="Text 15"/>
          <p:cNvSpPr/>
          <p:nvPr/>
        </p:nvSpPr>
        <p:spPr>
          <a:xfrm>
            <a:off x="8170956" y="4254599"/>
            <a:ext cx="3563551" cy="361553"/>
          </a:xfrm>
          <a:prstGeom prst="rect">
            <a:avLst/>
          </a:prstGeom>
          <a:noFill/>
          <a:ln/>
        </p:spPr>
        <p:txBody>
          <a:bodyPr wrap="square" lIns="0" tIns="0" rIns="0" bIns="0" rtlCol="0" anchor="t">
            <a:normAutofit/>
          </a:bodyPr>
          <a:lstStyle/>
          <a:p>
            <a:pPr algn="l" indent="0" marL="0">
              <a:lnSpc>
                <a:spcPct val="108000"/>
              </a:lnSpc>
              <a:buNone/>
            </a:pPr>
            <a:r>
              <a:rPr lang="en-US" sz="1100" spc="11" kern="0" dirty="0">
                <a:solidFill>
                  <a:srgbClr val="A9BEE6"/>
                </a:solidFill>
                <a:latin typeface="JetBrains Mono" pitchFamily="34" charset="0"/>
                <a:ea typeface="JetBrains Mono" pitchFamily="34" charset="-122"/>
                <a:cs typeface="JetBrains Mono" pitchFamily="34" charset="-120"/>
              </a:rPr>
              <a:t>Target servers running the chef-client background agent.</a:t>
            </a:r>
            <a:endParaRPr lang="en-US" sz="1100" dirty="0"/>
          </a:p>
        </p:txBody>
      </p:sp>
      <p:sp>
        <p:nvSpPr>
          <p:cNvPr id="19" name="Text 16"/>
          <p:cNvSpPr/>
          <p:nvPr/>
        </p:nvSpPr>
        <p:spPr>
          <a:xfrm>
            <a:off x="7711188" y="4729361"/>
            <a:ext cx="4023319" cy="951309"/>
          </a:xfrm>
          <a:prstGeom prst="rect">
            <a:avLst/>
          </a:prstGeom>
          <a:noFill/>
          <a:ln/>
        </p:spPr>
        <p:txBody>
          <a:bodyPr wrap="square" lIns="0" tIns="0" rIns="0" bIns="0" rtlCol="0" anchor="t">
            <a:normAutofit/>
          </a:bodyPr>
          <a:lstStyle/>
          <a:p>
            <a:pPr algn="l" indent="0" marL="0">
              <a:lnSpc>
                <a:spcPct val="121000"/>
              </a:lnSpc>
              <a:buNone/>
            </a:pPr>
            <a:r>
              <a:rPr lang="en-US" sz="1300" dirty="0">
                <a:solidFill>
                  <a:srgbClr val="FFFFFF"/>
                </a:solidFill>
                <a:latin typeface="JetBrains Mono" pitchFamily="34" charset="0"/>
                <a:ea typeface="JetBrains Mono" pitchFamily="34" charset="-122"/>
                <a:cs typeface="JetBrains Mono" pitchFamily="34" charset="-120"/>
              </a:rPr>
              <a:t>Each chef-client wakes up periodically (e.g., every 30 minutes), pulls the latest instructions from the Chef Server, and applies them locally.</a:t>
            </a:r>
            <a:endParaRPr lang="en-US" sz="1300" dirty="0"/>
          </a:p>
        </p:txBody>
      </p:sp>
      <p:sp>
        <p:nvSpPr>
          <p:cNvPr id="20" name="Shape 17"/>
          <p:cNvSpPr/>
          <p:nvPr/>
        </p:nvSpPr>
        <p:spPr>
          <a:xfrm>
            <a:off x="457189" y="5856883"/>
            <a:ext cx="11277318" cy="912614"/>
          </a:xfrm>
          <a:prstGeom prst="roundRect">
            <a:avLst>
              <a:gd name="adj" fmla="val 1252"/>
            </a:avLst>
          </a:prstGeom>
          <a:solidFill>
            <a:srgbClr val="803800"/>
          </a:solidFill>
          <a:ln/>
        </p:spPr>
        <p:txBody>
          <a:bodyPr/>
          <a:p/>
        </p:txBody>
      </p:sp>
      <p:sp>
        <p:nvSpPr>
          <p:cNvPr id="21" name="Text 18"/>
          <p:cNvSpPr/>
          <p:nvPr/>
        </p:nvSpPr>
        <p:spPr>
          <a:xfrm>
            <a:off x="646791" y="6093817"/>
            <a:ext cx="10898113" cy="438745"/>
          </a:xfrm>
          <a:prstGeom prst="rect">
            <a:avLst/>
          </a:prstGeom>
          <a:noFill/>
          <a:ln/>
        </p:spPr>
        <p:txBody>
          <a:bodyPr wrap="square" lIns="0" tIns="0" rIns="0" bIns="0" rtlCol="0" anchor="t">
            <a:normAutofit/>
          </a:bodyPr>
          <a:lstStyle/>
          <a:p>
            <a:pPr algn="l" indent="0" marL="0">
              <a:lnSpc>
                <a:spcPct val="121000"/>
              </a:lnSpc>
              <a:buNone/>
            </a:pPr>
            <a:r>
              <a:rPr lang="en-US" sz="800" dirty="0">
                <a:solidFill>
                  <a:srgbClr val="FFFFFF"/>
                </a:solidFill>
                <a:latin typeface="JetBrains Mono" pitchFamily="34" charset="0"/>
                <a:ea typeface="JetBrains Mono" pitchFamily="34" charset="-122"/>
                <a:cs typeface="JetBrains Mono" pitchFamily="34" charset="-120"/>
              </a:rPr>
              <a:t>Thank you, Lokesh. The first tool is Chef. Chef uses the Ruby language and follows an agent-based Pull model with three main parts: First, the Workstation where we write our configuration code. Second, the Chef Server which stores all configurations centrally. Third, the Chef Nodes where the chef-client agent runs. The agent pulls configurations from the server and updates the machine automatically.</a:t>
            </a:r>
            <a:endParaRPr lang="en-US" sz="800" dirty="0"/>
          </a:p>
        </p:txBody>
      </p:sp>
      <p:sp>
        <p:nvSpPr>
          <p:cNvPr id="22" name="Shape 19"/>
          <p:cNvSpPr/>
          <p:nvPr/>
        </p:nvSpPr>
        <p:spPr>
          <a:xfrm>
            <a:off x="0" y="6400800"/>
            <a:ext cx="12191695" cy="9525"/>
          </a:xfrm>
          <a:prstGeom prst="rect">
            <a:avLst/>
          </a:prstGeom>
          <a:solidFill>
            <a:srgbClr val="FFFFFF">
              <a:alpha val="20000"/>
            </a:srgbClr>
          </a:solidFill>
          <a:ln/>
        </p:spPr>
        <p:txBody>
          <a:bodyPr/>
          <a:p/>
        </p:txBody>
      </p:sp>
      <p:sp>
        <p:nvSpPr>
          <p:cNvPr id="24" name="Shape 21"/>
          <p:cNvSpPr/>
          <p:nvPr/>
        </p:nvSpPr>
        <p:spPr>
          <a:xfrm>
            <a:off x="7711188" y="2539901"/>
            <a:ext cx="4023319" cy="12700"/>
          </a:xfrm>
          <a:prstGeom prst="rect">
            <a:avLst/>
          </a:prstGeom>
          <a:solidFill>
            <a:srgbClr val="FFFFFF"/>
          </a:solidFill>
          <a:ln/>
        </p:spPr>
        <p:txBody>
          <a:bodyPr/>
          <a:p/>
        </p:txBody>
      </p:sp>
      <p:sp>
        <p:nvSpPr>
          <p:cNvPr id="25" name="Shape 22"/>
          <p:cNvSpPr/>
          <p:nvPr/>
        </p:nvSpPr>
        <p:spPr>
          <a:xfrm>
            <a:off x="7711188" y="3598763"/>
            <a:ext cx="4023319" cy="12700"/>
          </a:xfrm>
          <a:prstGeom prst="rect">
            <a:avLst/>
          </a:prstGeom>
          <a:solidFill>
            <a:srgbClr val="FFFFFF"/>
          </a:solidFill>
          <a:ln/>
        </p:spPr>
        <p:txBody>
          <a:body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457200"/>
            <a:ext cx="11277318" cy="325338"/>
          </a:xfrm>
          <a:prstGeom prst="rect">
            <a:avLst/>
          </a:prstGeom>
          <a:noFill/>
          <a:ln/>
        </p:spPr>
        <p:txBody>
          <a:bodyPr wrap="none" lIns="0" tIns="0" rIns="0" bIns="0" rtlCol="0" anchor="t"/>
          <a:lstStyle/>
          <a:p>
            <a:pPr algn="l" indent="0" marL="0">
              <a:lnSpc>
                <a:spcPct val="90000"/>
              </a:lnSpc>
              <a:buNone/>
            </a:pPr>
            <a:r>
              <a:rPr lang="en-US" sz="2350" b="1" spc="71" kern="0" dirty="0">
                <a:solidFill>
                  <a:srgbClr val="FFFFFF"/>
                </a:solidFill>
                <a:latin typeface="Martian Mono Bold" pitchFamily="34" charset="0"/>
                <a:ea typeface="Martian Mono Bold" pitchFamily="34" charset="-122"/>
                <a:cs typeface="Martian Mono Bold" pitchFamily="34" charset="-120"/>
              </a:rPr>
              <a:t>CHEF – COOKBOOKS, RECIPES &amp; CODE</a:t>
            </a:r>
            <a:endParaRPr lang="en-US" sz="2350" dirty="0"/>
          </a:p>
        </p:txBody>
      </p:sp>
      <p:sp>
        <p:nvSpPr>
          <p:cNvPr id="3" name="Text 1"/>
          <p:cNvSpPr/>
          <p:nvPr/>
        </p:nvSpPr>
        <p:spPr>
          <a:xfrm>
            <a:off x="457189" y="2088158"/>
            <a:ext cx="3657509" cy="165695"/>
          </a:xfrm>
          <a:prstGeom prst="rect">
            <a:avLst/>
          </a:prstGeom>
          <a:noFill/>
          <a:ln/>
        </p:spPr>
        <p:txBody>
          <a:bodyPr wrap="none" lIns="0" tIns="0" rIns="0" bIns="0" rtlCol="0" anchor="t"/>
          <a:lstStyle/>
          <a:p>
            <a:pPr algn="l" indent="0" marL="0">
              <a:lnSpc>
                <a:spcPct val="108000"/>
              </a:lnSpc>
              <a:buNone/>
            </a:pPr>
            <a:r>
              <a:rPr lang="en-US" sz="1000" spc="80" kern="0" dirty="0">
                <a:solidFill>
                  <a:srgbClr val="A9BEE6"/>
                </a:solidFill>
                <a:latin typeface="JetBrains Mono Medium" pitchFamily="34" charset="0"/>
                <a:ea typeface="JetBrains Mono Medium" pitchFamily="34" charset="-122"/>
                <a:cs typeface="JetBrains Mono Medium" pitchFamily="34" charset="-120"/>
              </a:rPr>
              <a:t>CODE LANGUAGE</a:t>
            </a:r>
            <a:endParaRPr lang="en-US" sz="1000" dirty="0"/>
          </a:p>
        </p:txBody>
      </p:sp>
      <p:sp>
        <p:nvSpPr>
          <p:cNvPr id="4" name="Text 2"/>
          <p:cNvSpPr/>
          <p:nvPr/>
        </p:nvSpPr>
        <p:spPr>
          <a:xfrm>
            <a:off x="457189" y="2349004"/>
            <a:ext cx="3657509" cy="241002"/>
          </a:xfrm>
          <a:prstGeom prst="rect">
            <a:avLst/>
          </a:prstGeom>
          <a:noFill/>
          <a:ln/>
        </p:spPr>
        <p:txBody>
          <a:bodyPr wrap="none" lIns="0" tIns="0" rIns="0" bIns="0" rtlCol="0" anchor="t"/>
          <a:lstStyle/>
          <a:p>
            <a:pPr algn="l" indent="0" marL="0">
              <a:lnSpc>
                <a:spcPct val="116000"/>
              </a:lnSpc>
              <a:buNone/>
            </a:pPr>
            <a:r>
              <a:rPr lang="en-US" sz="1350" b="1" dirty="0">
                <a:solidFill>
                  <a:srgbClr val="FFFFFF"/>
                </a:solidFill>
                <a:latin typeface="JetBrains Mono Bold" pitchFamily="34" charset="0"/>
                <a:ea typeface="JetBrains Mono Bold" pitchFamily="34" charset="-122"/>
                <a:cs typeface="JetBrains Mono Bold" pitchFamily="34" charset="-120"/>
              </a:rPr>
              <a:t>Ruby (.rb)</a:t>
            </a:r>
            <a:endParaRPr lang="en-US" sz="1350" dirty="0"/>
          </a:p>
        </p:txBody>
      </p:sp>
      <p:sp>
        <p:nvSpPr>
          <p:cNvPr id="5" name="Shape 3"/>
          <p:cNvSpPr/>
          <p:nvPr/>
        </p:nvSpPr>
        <p:spPr>
          <a:xfrm>
            <a:off x="457189" y="2728516"/>
            <a:ext cx="3657509" cy="19050"/>
          </a:xfrm>
          <a:prstGeom prst="roundRect">
            <a:avLst>
              <a:gd name="adj" fmla="val 49999"/>
            </a:avLst>
          </a:prstGeom>
          <a:solidFill>
            <a:srgbClr val="A9BEE6"/>
          </a:solidFill>
          <a:ln/>
        </p:spPr>
        <p:txBody>
          <a:bodyPr/>
          <a:p/>
        </p:txBody>
      </p:sp>
      <p:sp>
        <p:nvSpPr>
          <p:cNvPr id="6" name="Text 4"/>
          <p:cNvSpPr/>
          <p:nvPr/>
        </p:nvSpPr>
        <p:spPr>
          <a:xfrm>
            <a:off x="457189" y="2938859"/>
            <a:ext cx="3657509" cy="255984"/>
          </a:xfrm>
          <a:prstGeom prst="rect">
            <a:avLst/>
          </a:prstGeom>
          <a:noFill/>
          <a:ln/>
        </p:spPr>
        <p:txBody>
          <a:bodyPr wrap="none" lIns="0" tIns="0" rIns="0" bIns="0" rtlCol="0" anchor="t"/>
          <a:lstStyle/>
          <a:p>
            <a:pPr algn="l" indent="0" marL="0">
              <a:lnSpc>
                <a:spcPct val="108000"/>
              </a:lnSpc>
              <a:buNone/>
            </a:pPr>
            <a:r>
              <a:rPr lang="en-US" sz="1550" dirty="0">
                <a:solidFill>
                  <a:srgbClr val="FFFFFF"/>
                </a:solidFill>
                <a:latin typeface="JetBrains Mono Medium" pitchFamily="34" charset="0"/>
                <a:ea typeface="JetBrains Mono Medium" pitchFamily="34" charset="-122"/>
                <a:cs typeface="JetBrains Mono Medium" pitchFamily="34" charset="-120"/>
              </a:rPr>
              <a:t>Recipe</a:t>
            </a:r>
            <a:endParaRPr lang="en-US" sz="1550" dirty="0"/>
          </a:p>
        </p:txBody>
      </p:sp>
      <p:sp>
        <p:nvSpPr>
          <p:cNvPr id="7" name="Text 5"/>
          <p:cNvSpPr/>
          <p:nvPr/>
        </p:nvSpPr>
        <p:spPr>
          <a:xfrm>
            <a:off x="457189" y="3313708"/>
            <a:ext cx="3657509" cy="626269"/>
          </a:xfrm>
          <a:prstGeom prst="rect">
            <a:avLst/>
          </a:prstGeom>
          <a:noFill/>
          <a:ln/>
        </p:spPr>
        <p:txBody>
          <a:bodyPr wrap="square" lIns="0" tIns="0" rIns="0" bIns="0" rtlCol="0" anchor="t">
            <a:normAutofit/>
          </a:bodyPr>
          <a:lstStyle/>
          <a:p>
            <a:pPr algn="l" indent="0" marL="0">
              <a:lnSpc>
                <a:spcPct val="116000"/>
              </a:lnSpc>
              <a:buNone/>
            </a:pPr>
            <a:r>
              <a:rPr lang="en-US" sz="1200" dirty="0">
                <a:solidFill>
                  <a:srgbClr val="FFFFFF"/>
                </a:solidFill>
                <a:latin typeface="JetBrains Mono" pitchFamily="34" charset="0"/>
                <a:ea typeface="JetBrains Mono" pitchFamily="34" charset="-122"/>
                <a:cs typeface="JetBrains Mono" pitchFamily="34" charset="-120"/>
              </a:rPr>
              <a:t>A basic configuration block written in Ruby that tells Chef what to install or configure.</a:t>
            </a:r>
            <a:endParaRPr lang="en-US" sz="1200" dirty="0"/>
          </a:p>
        </p:txBody>
      </p:sp>
      <p:sp>
        <p:nvSpPr>
          <p:cNvPr id="8" name="Text 6"/>
          <p:cNvSpPr/>
          <p:nvPr/>
        </p:nvSpPr>
        <p:spPr>
          <a:xfrm>
            <a:off x="457189" y="4087912"/>
            <a:ext cx="3657509" cy="255984"/>
          </a:xfrm>
          <a:prstGeom prst="rect">
            <a:avLst/>
          </a:prstGeom>
          <a:noFill/>
          <a:ln/>
        </p:spPr>
        <p:txBody>
          <a:bodyPr wrap="none" lIns="0" tIns="0" rIns="0" bIns="0" rtlCol="0" anchor="t"/>
          <a:lstStyle/>
          <a:p>
            <a:pPr algn="l" indent="0" marL="0">
              <a:lnSpc>
                <a:spcPct val="108000"/>
              </a:lnSpc>
              <a:buNone/>
            </a:pPr>
            <a:r>
              <a:rPr lang="en-US" sz="1550" dirty="0">
                <a:solidFill>
                  <a:srgbClr val="FFFFFF"/>
                </a:solidFill>
                <a:latin typeface="JetBrains Mono Medium" pitchFamily="34" charset="0"/>
                <a:ea typeface="JetBrains Mono Medium" pitchFamily="34" charset="-122"/>
                <a:cs typeface="JetBrains Mono Medium" pitchFamily="34" charset="-120"/>
              </a:rPr>
              <a:t>Cookbook</a:t>
            </a:r>
            <a:endParaRPr lang="en-US" sz="1550" dirty="0"/>
          </a:p>
        </p:txBody>
      </p:sp>
      <p:sp>
        <p:nvSpPr>
          <p:cNvPr id="9" name="Text 7"/>
          <p:cNvSpPr/>
          <p:nvPr/>
        </p:nvSpPr>
        <p:spPr>
          <a:xfrm>
            <a:off x="457189" y="4462760"/>
            <a:ext cx="3657509" cy="417513"/>
          </a:xfrm>
          <a:prstGeom prst="rect">
            <a:avLst/>
          </a:prstGeom>
          <a:noFill/>
          <a:ln/>
        </p:spPr>
        <p:txBody>
          <a:bodyPr wrap="square" lIns="0" tIns="0" rIns="0" bIns="0" rtlCol="0" anchor="t">
            <a:normAutofit/>
          </a:bodyPr>
          <a:lstStyle/>
          <a:p>
            <a:pPr algn="l" indent="0" marL="0">
              <a:lnSpc>
                <a:spcPct val="116000"/>
              </a:lnSpc>
              <a:buNone/>
            </a:pPr>
            <a:r>
              <a:rPr lang="en-US" sz="1200" dirty="0">
                <a:solidFill>
                  <a:srgbClr val="FFFFFF"/>
                </a:solidFill>
                <a:latin typeface="JetBrains Mono" pitchFamily="34" charset="0"/>
                <a:ea typeface="JetBrains Mono" pitchFamily="34" charset="-122"/>
                <a:cs typeface="JetBrains Mono" pitchFamily="34" charset="-120"/>
              </a:rPr>
              <a:t>A package containing recipes, templates, and files.</a:t>
            </a:r>
            <a:endParaRPr lang="en-US" sz="1200" dirty="0"/>
          </a:p>
        </p:txBody>
      </p:sp>
      <p:sp>
        <p:nvSpPr>
          <p:cNvPr id="10" name="Text 8"/>
          <p:cNvSpPr/>
          <p:nvPr/>
        </p:nvSpPr>
        <p:spPr>
          <a:xfrm>
            <a:off x="4419489" y="946348"/>
            <a:ext cx="7315017" cy="165695"/>
          </a:xfrm>
          <a:prstGeom prst="rect">
            <a:avLst/>
          </a:prstGeom>
          <a:noFill/>
          <a:ln/>
        </p:spPr>
        <p:txBody>
          <a:bodyPr wrap="none" lIns="0" tIns="0" rIns="0" bIns="0" rtlCol="0" anchor="t"/>
          <a:lstStyle/>
          <a:p>
            <a:pPr algn="l" indent="0" marL="0">
              <a:lnSpc>
                <a:spcPct val="108000"/>
              </a:lnSpc>
              <a:buNone/>
            </a:pPr>
            <a:r>
              <a:rPr lang="en-US" sz="1000" spc="80" kern="0" dirty="0">
                <a:solidFill>
                  <a:srgbClr val="A9BEE6"/>
                </a:solidFill>
                <a:latin typeface="JetBrains Mono Medium" pitchFamily="34" charset="0"/>
                <a:ea typeface="JetBrains Mono Medium" pitchFamily="34" charset="-122"/>
                <a:cs typeface="JetBrains Mono Medium" pitchFamily="34" charset="-120"/>
              </a:rPr>
              <a:t>CHEF RECIPE CODE (DEFAULT.RB)</a:t>
            </a:r>
            <a:endParaRPr lang="en-US" sz="1000" dirty="0"/>
          </a:p>
        </p:txBody>
      </p:sp>
      <p:sp>
        <p:nvSpPr>
          <p:cNvPr id="11" name="Shape 9"/>
          <p:cNvSpPr/>
          <p:nvPr/>
        </p:nvSpPr>
        <p:spPr>
          <a:xfrm>
            <a:off x="4419489" y="1307505"/>
            <a:ext cx="7315017" cy="4519116"/>
          </a:xfrm>
          <a:prstGeom prst="roundRect">
            <a:avLst>
              <a:gd name="adj" fmla="val 253"/>
            </a:avLst>
          </a:prstGeom>
          <a:solidFill>
            <a:srgbClr val="1A4C9C"/>
          </a:solidFill>
          <a:ln/>
        </p:spPr>
        <p:txBody>
          <a:bodyPr/>
          <a:p/>
        </p:txBody>
      </p:sp>
      <p:sp>
        <p:nvSpPr>
          <p:cNvPr id="12" name="Text 10"/>
          <p:cNvSpPr/>
          <p:nvPr/>
        </p:nvSpPr>
        <p:spPr>
          <a:xfrm>
            <a:off x="4628042" y="1481237"/>
            <a:ext cx="6897912" cy="4171652"/>
          </a:xfrm>
          <a:prstGeom prst="rect">
            <a:avLst/>
          </a:prstGeom>
          <a:noFill/>
          <a:ln/>
        </p:spPr>
        <p:txBody>
          <a:bodyPr wrap="square" lIns="0" tIns="0" rIns="0" bIns="0" rtlCol="0" anchor="t">
            <a:normAutofit/>
          </a:bodyPr>
          <a:lstStyle/>
          <a:p>
            <a:pPr algn="l" indent="0" marL="0">
              <a:lnSpc>
                <a:spcPct val="133000"/>
              </a:lnSpc>
              <a:buNone/>
            </a:pPr>
            <a:r>
              <a:rPr lang="en-US" sz="1350" dirty="0">
                <a:solidFill>
                  <a:srgbClr val="8B949E"/>
                </a:solidFill>
                <a:latin typeface="Consolas" pitchFamily="34" charset="0"/>
                <a:ea typeface="Consolas" pitchFamily="34" charset="-122"/>
                <a:cs typeface="Consolas" pitchFamily="34" charset="-120"/>
              </a:rPr>
              <a:t># 1. Install Web Server</a:t>
            </a:r>
            <a:endParaRPr lang="en-US" sz="1350" dirty="0"/>
          </a:p>
          <a:p>
            <a:pPr algn="l" indent="0" marL="0">
              <a:lnSpc>
                <a:spcPct val="133000"/>
              </a:lnSpc>
              <a:buNone/>
            </a:pPr>
            <a:r>
              <a:rPr lang="en-US" sz="1350" dirty="0">
                <a:solidFill>
                  <a:srgbClr val="8B949E"/>
                </a:solidFill>
                <a:latin typeface="Consolas" pitchFamily="34" charset="0"/>
                <a:ea typeface="Consolas" pitchFamily="34" charset="-122"/>
                <a:cs typeface="Consolas" pitchFamily="34" charset="-120"/>
              </a:rPr>
              <a:t>package 'nginx' do</a:t>
            </a:r>
            <a:endParaRPr lang="en-US" sz="1350" dirty="0"/>
          </a:p>
          <a:p>
            <a:pPr algn="l" indent="0" marL="0">
              <a:lnSpc>
                <a:spcPct val="133000"/>
              </a:lnSpc>
              <a:buNone/>
            </a:pPr>
            <a:r>
              <a:rPr lang="en-US" sz="1350" dirty="0">
                <a:solidFill>
                  <a:srgbClr val="8B949E"/>
                </a:solidFill>
                <a:latin typeface="Consolas" pitchFamily="34" charset="0"/>
                <a:ea typeface="Consolas" pitchFamily="34" charset="-122"/>
                <a:cs typeface="Consolas" pitchFamily="34" charset="-120"/>
              </a:rPr>
              <a:t>  action :install</a:t>
            </a:r>
            <a:endParaRPr lang="en-US" sz="1350" dirty="0"/>
          </a:p>
          <a:p>
            <a:pPr algn="l" indent="0" marL="0">
              <a:lnSpc>
                <a:spcPct val="133000"/>
              </a:lnSpc>
              <a:buNone/>
            </a:pPr>
            <a:r>
              <a:rPr lang="en-US" sz="1350" dirty="0">
                <a:solidFill>
                  <a:srgbClr val="8B949E"/>
                </a:solidFill>
                <a:latin typeface="Consolas" pitchFamily="34" charset="0"/>
                <a:ea typeface="Consolas" pitchFamily="34" charset="-122"/>
                <a:cs typeface="Consolas" pitchFamily="34" charset="-120"/>
              </a:rPr>
              <a:t>end</a:t>
            </a:r>
            <a:endParaRPr lang="en-US" sz="1350" dirty="0"/>
          </a:p>
          <a:p>
            <a:pPr algn="l" indent="0" marL="0">
              <a:lnSpc>
                <a:spcPct val="133000"/>
              </a:lnSpc>
              <a:buNone/>
            </a:pPr>
            <a:endParaRPr lang="en-US" sz="1350" dirty="0"/>
          </a:p>
          <a:p>
            <a:pPr algn="l" indent="0" marL="0">
              <a:lnSpc>
                <a:spcPct val="133000"/>
              </a:lnSpc>
              <a:buNone/>
            </a:pPr>
            <a:r>
              <a:rPr lang="en-US" sz="1350" dirty="0">
                <a:solidFill>
                  <a:srgbClr val="8B949E"/>
                </a:solidFill>
                <a:latin typeface="Consolas" pitchFamily="34" charset="0"/>
                <a:ea typeface="Consolas" pitchFamily="34" charset="-122"/>
                <a:cs typeface="Consolas" pitchFamily="34" charset="-120"/>
              </a:rPr>
              <a:t># 2. Deploy Web Page</a:t>
            </a:r>
            <a:endParaRPr lang="en-US" sz="1350" dirty="0"/>
          </a:p>
          <a:p>
            <a:pPr algn="l" indent="0" marL="0">
              <a:lnSpc>
                <a:spcPct val="133000"/>
              </a:lnSpc>
              <a:buNone/>
            </a:pPr>
            <a:r>
              <a:rPr lang="en-US" sz="1350" dirty="0">
                <a:solidFill>
                  <a:srgbClr val="8B949E"/>
                </a:solidFill>
                <a:latin typeface="Consolas" pitchFamily="34" charset="0"/>
                <a:ea typeface="Consolas" pitchFamily="34" charset="-122"/>
                <a:cs typeface="Consolas" pitchFamily="34" charset="-120"/>
              </a:rPr>
              <a:t>file '/var/www/html/index.html' do</a:t>
            </a:r>
            <a:endParaRPr lang="en-US" sz="1350" dirty="0"/>
          </a:p>
          <a:p>
            <a:pPr algn="l" indent="0" marL="0">
              <a:lnSpc>
                <a:spcPct val="133000"/>
              </a:lnSpc>
              <a:buNone/>
            </a:pPr>
            <a:r>
              <a:rPr lang="en-US" sz="1350" dirty="0">
                <a:solidFill>
                  <a:srgbClr val="8B949E"/>
                </a:solidFill>
                <a:latin typeface="Consolas" pitchFamily="34" charset="0"/>
                <a:ea typeface="Consolas" pitchFamily="34" charset="-122"/>
                <a:cs typeface="Consolas" pitchFamily="34" charset="-120"/>
              </a:rPr>
              <a:t>  content '&lt;h1&gt;Deployed via Chef!&lt;/h1&gt;'</a:t>
            </a:r>
            <a:endParaRPr lang="en-US" sz="1350" dirty="0"/>
          </a:p>
          <a:p>
            <a:pPr algn="l" indent="0" marL="0">
              <a:lnSpc>
                <a:spcPct val="133000"/>
              </a:lnSpc>
              <a:buNone/>
            </a:pPr>
            <a:r>
              <a:rPr lang="en-US" sz="1350" dirty="0">
                <a:solidFill>
                  <a:srgbClr val="8B949E"/>
                </a:solidFill>
                <a:latin typeface="Consolas" pitchFamily="34" charset="0"/>
                <a:ea typeface="Consolas" pitchFamily="34" charset="-122"/>
                <a:cs typeface="Consolas" pitchFamily="34" charset="-120"/>
              </a:rPr>
              <a:t>  action :create</a:t>
            </a:r>
            <a:endParaRPr lang="en-US" sz="1350" dirty="0"/>
          </a:p>
          <a:p>
            <a:pPr algn="l" indent="0" marL="0">
              <a:lnSpc>
                <a:spcPct val="133000"/>
              </a:lnSpc>
              <a:buNone/>
            </a:pPr>
            <a:r>
              <a:rPr lang="en-US" sz="1350" dirty="0">
                <a:solidFill>
                  <a:srgbClr val="8B949E"/>
                </a:solidFill>
                <a:latin typeface="Consolas" pitchFamily="34" charset="0"/>
                <a:ea typeface="Consolas" pitchFamily="34" charset="-122"/>
                <a:cs typeface="Consolas" pitchFamily="34" charset="-120"/>
              </a:rPr>
              <a:t>end</a:t>
            </a:r>
            <a:endParaRPr lang="en-US" sz="1350" dirty="0"/>
          </a:p>
          <a:p>
            <a:pPr algn="l" indent="0" marL="0">
              <a:lnSpc>
                <a:spcPct val="133000"/>
              </a:lnSpc>
              <a:buNone/>
            </a:pPr>
            <a:endParaRPr lang="en-US" sz="1350" dirty="0"/>
          </a:p>
          <a:p>
            <a:pPr algn="l" indent="0" marL="0">
              <a:lnSpc>
                <a:spcPct val="133000"/>
              </a:lnSpc>
              <a:buNone/>
            </a:pPr>
            <a:r>
              <a:rPr lang="en-US" sz="1350" dirty="0">
                <a:solidFill>
                  <a:srgbClr val="8B949E"/>
                </a:solidFill>
                <a:latin typeface="Consolas" pitchFamily="34" charset="0"/>
                <a:ea typeface="Consolas" pitchFamily="34" charset="-122"/>
                <a:cs typeface="Consolas" pitchFamily="34" charset="-120"/>
              </a:rPr>
              <a:t># 3. Start Service</a:t>
            </a:r>
            <a:endParaRPr lang="en-US" sz="1350" dirty="0"/>
          </a:p>
          <a:p>
            <a:pPr algn="l" indent="0" marL="0">
              <a:lnSpc>
                <a:spcPct val="133000"/>
              </a:lnSpc>
              <a:buNone/>
            </a:pPr>
            <a:r>
              <a:rPr lang="en-US" sz="1350" dirty="0">
                <a:solidFill>
                  <a:srgbClr val="8B949E"/>
                </a:solidFill>
                <a:latin typeface="Consolas" pitchFamily="34" charset="0"/>
                <a:ea typeface="Consolas" pitchFamily="34" charset="-122"/>
                <a:cs typeface="Consolas" pitchFamily="34" charset="-120"/>
              </a:rPr>
              <a:t>service 'nginx' do</a:t>
            </a:r>
            <a:endParaRPr lang="en-US" sz="1350" dirty="0"/>
          </a:p>
          <a:p>
            <a:pPr algn="l" indent="0" marL="0">
              <a:lnSpc>
                <a:spcPct val="133000"/>
              </a:lnSpc>
              <a:buNone/>
            </a:pPr>
            <a:r>
              <a:rPr lang="en-US" sz="1350" dirty="0">
                <a:solidFill>
                  <a:srgbClr val="8B949E"/>
                </a:solidFill>
                <a:latin typeface="Consolas" pitchFamily="34" charset="0"/>
                <a:ea typeface="Consolas" pitchFamily="34" charset="-122"/>
                <a:cs typeface="Consolas" pitchFamily="34" charset="-120"/>
              </a:rPr>
              <a:t>  action [:enable, :start]</a:t>
            </a:r>
            <a:endParaRPr lang="en-US" sz="1350" dirty="0"/>
          </a:p>
          <a:p>
            <a:pPr algn="l" indent="0" marL="0">
              <a:lnSpc>
                <a:spcPct val="133000"/>
              </a:lnSpc>
              <a:buNone/>
            </a:pPr>
            <a:r>
              <a:rPr lang="en-US" sz="1350" dirty="0">
                <a:solidFill>
                  <a:srgbClr val="8B949E"/>
                </a:solidFill>
                <a:latin typeface="Consolas" pitchFamily="34" charset="0"/>
                <a:ea typeface="Consolas" pitchFamily="34" charset="-122"/>
                <a:cs typeface="Consolas" pitchFamily="34" charset="-120"/>
              </a:rPr>
              <a:t>end</a:t>
            </a:r>
            <a:endParaRPr lang="en-US" sz="1350" dirty="0"/>
          </a:p>
        </p:txBody>
      </p:sp>
      <p:sp>
        <p:nvSpPr>
          <p:cNvPr id="13" name="Shape 11"/>
          <p:cNvSpPr/>
          <p:nvPr/>
        </p:nvSpPr>
        <p:spPr>
          <a:xfrm>
            <a:off x="457189" y="6170017"/>
            <a:ext cx="11277318" cy="690959"/>
          </a:xfrm>
          <a:prstGeom prst="roundRect">
            <a:avLst>
              <a:gd name="adj" fmla="val 1654"/>
            </a:avLst>
          </a:prstGeom>
          <a:solidFill>
            <a:srgbClr val="803800"/>
          </a:solidFill>
          <a:ln/>
        </p:spPr>
        <p:txBody>
          <a:bodyPr/>
          <a:p/>
        </p:txBody>
      </p:sp>
      <p:sp>
        <p:nvSpPr>
          <p:cNvPr id="14" name="Text 12"/>
          <p:cNvSpPr/>
          <p:nvPr/>
        </p:nvSpPr>
        <p:spPr>
          <a:xfrm>
            <a:off x="630916" y="6387108"/>
            <a:ext cx="10929863" cy="256778"/>
          </a:xfrm>
          <a:prstGeom prst="rect">
            <a:avLst/>
          </a:prstGeom>
          <a:noFill/>
          <a:ln/>
        </p:spPr>
        <p:txBody>
          <a:bodyPr wrap="square" lIns="0" tIns="0" rIns="0" bIns="0" rtlCol="0" anchor="t">
            <a:normAutofit/>
          </a:bodyPr>
          <a:lstStyle/>
          <a:p>
            <a:pPr algn="l" indent="0" marL="0">
              <a:lnSpc>
                <a:spcPct val="116000"/>
              </a:lnSpc>
              <a:buNone/>
            </a:pPr>
            <a:r>
              <a:rPr lang="en-US" sz="750" dirty="0">
                <a:solidFill>
                  <a:srgbClr val="FFFFFF"/>
                </a:solidFill>
                <a:latin typeface="JetBrains Mono" pitchFamily="34" charset="0"/>
                <a:ea typeface="JetBrains Mono" pitchFamily="34" charset="-122"/>
                <a:cs typeface="JetBrains Mono" pitchFamily="34" charset="-120"/>
              </a:rPr>
              <a:t>In Chef, configurations are organized into Cookbooks and Recipes written in Ruby. As shown in our code example, a recipe uses simple Ruby instructions. It tells the server: install Nginx, create the web page, and start the service. Chef ensures the system always stays in this desired state.</a:t>
            </a:r>
            <a:endParaRPr lang="en-US" sz="750" dirty="0"/>
          </a:p>
        </p:txBody>
      </p:sp>
      <p:sp>
        <p:nvSpPr>
          <p:cNvPr id="15" name="Shape 13"/>
          <p:cNvSpPr/>
          <p:nvPr/>
        </p:nvSpPr>
        <p:spPr>
          <a:xfrm>
            <a:off x="0" y="6400800"/>
            <a:ext cx="12191695" cy="9525"/>
          </a:xfrm>
          <a:prstGeom prst="rect">
            <a:avLst/>
          </a:prstGeom>
          <a:solidFill>
            <a:srgbClr val="FFFFFF">
              <a:alpha val="20000"/>
            </a:srgbClr>
          </a:solidFill>
          <a:ln/>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457200"/>
            <a:ext cx="11277318" cy="375444"/>
          </a:xfrm>
          <a:prstGeom prst="rect">
            <a:avLst/>
          </a:prstGeom>
          <a:noFill/>
          <a:ln/>
        </p:spPr>
        <p:txBody>
          <a:bodyPr wrap="none" lIns="0" tIns="0" rIns="0" bIns="0" rtlCol="0" anchor="t"/>
          <a:lstStyle/>
          <a:p>
            <a:pPr algn="l" indent="0" marL="0">
              <a:lnSpc>
                <a:spcPct val="90000"/>
              </a:lnSpc>
              <a:buNone/>
            </a:pPr>
            <a:r>
              <a:rPr lang="en-US" sz="2750" b="1" spc="82" kern="0" dirty="0">
                <a:solidFill>
                  <a:srgbClr val="FFFFFF"/>
                </a:solidFill>
                <a:latin typeface="Martian Mono Bold" pitchFamily="34" charset="0"/>
                <a:ea typeface="Martian Mono Bold" pitchFamily="34" charset="-122"/>
                <a:cs typeface="Martian Mono Bold" pitchFamily="34" charset="-120"/>
              </a:rPr>
              <a:t>SALTSTACK – ARCHITECTURE &amp; HIGH SPEED</a:t>
            </a:r>
            <a:endParaRPr lang="en-US" sz="2750" dirty="0"/>
          </a:p>
        </p:txBody>
      </p:sp>
      <p:pic>
        <p:nvPicPr>
          <p:cNvPr id="3" name="Image 0" descr="preencoded.png">    </p:cNvPr>
          <p:cNvPicPr>
            <a:picLocks noChangeAspect="1"/>
          </p:cNvPicPr>
          <p:nvPr/>
        </p:nvPicPr>
        <p:blipFill>
          <a:blip r:embed="rId1"/>
          <a:stretch>
            <a:fillRect/>
          </a:stretch>
        </p:blipFill>
        <p:spPr>
          <a:xfrm>
            <a:off x="457189" y="1352550"/>
            <a:ext cx="6547381" cy="3682901"/>
          </a:xfrm>
          <a:prstGeom prst="rect">
            <a:avLst/>
          </a:prstGeom>
        </p:spPr>
      </p:pic>
      <p:sp>
        <p:nvSpPr>
          <p:cNvPr id="4" name="Text 1"/>
          <p:cNvSpPr/>
          <p:nvPr/>
        </p:nvSpPr>
        <p:spPr>
          <a:xfrm>
            <a:off x="457189" y="5111254"/>
            <a:ext cx="6949306" cy="355203"/>
          </a:xfrm>
          <a:prstGeom prst="rect">
            <a:avLst/>
          </a:prstGeom>
          <a:noFill/>
          <a:ln/>
        </p:spPr>
        <p:txBody>
          <a:bodyPr wrap="square" lIns="0" tIns="0" rIns="0" bIns="0" rtlCol="0" anchor="t">
            <a:normAutofit/>
          </a:bodyPr>
          <a:lstStyle/>
          <a:p>
            <a:pPr algn="l" indent="0" marL="0">
              <a:lnSpc>
                <a:spcPct val="108000"/>
              </a:lnSpc>
              <a:buNone/>
            </a:pPr>
            <a:r>
              <a:rPr lang="en-US" sz="1100" spc="11" kern="0" dirty="0">
                <a:solidFill>
                  <a:srgbClr val="A9BEE6"/>
                </a:solidFill>
                <a:latin typeface="JetBrains Mono" pitchFamily="34" charset="0"/>
                <a:ea typeface="JetBrains Mono" pitchFamily="34" charset="-122"/>
                <a:cs typeface="JetBrains Mono" pitchFamily="34" charset="-120"/>
              </a:rPr>
              <a:t>Master-minion push model: the Salt Master sends commands outward to managed servers.</a:t>
            </a:r>
            <a:endParaRPr lang="en-US" sz="1100" dirty="0"/>
          </a:p>
        </p:txBody>
      </p:sp>
      <p:sp>
        <p:nvSpPr>
          <p:cNvPr id="5" name="Text 2"/>
          <p:cNvSpPr/>
          <p:nvPr/>
        </p:nvSpPr>
        <p:spPr>
          <a:xfrm>
            <a:off x="7711188" y="1020762"/>
            <a:ext cx="4023319" cy="177602"/>
          </a:xfrm>
          <a:prstGeom prst="rect">
            <a:avLst/>
          </a:prstGeom>
          <a:noFill/>
          <a:ln/>
        </p:spPr>
        <p:txBody>
          <a:bodyPr wrap="none" lIns="0" tIns="0" rIns="0" bIns="0" rtlCol="0" anchor="t"/>
          <a:lstStyle/>
          <a:p>
            <a:pPr algn="l" indent="0" marL="0">
              <a:lnSpc>
                <a:spcPct val="108000"/>
              </a:lnSpc>
              <a:buNone/>
            </a:pPr>
            <a:r>
              <a:rPr lang="en-US" sz="1100" spc="86" kern="0" dirty="0">
                <a:solidFill>
                  <a:srgbClr val="A9BEE6"/>
                </a:solidFill>
                <a:latin typeface="JetBrains Mono Medium" pitchFamily="34" charset="0"/>
                <a:ea typeface="JetBrains Mono Medium" pitchFamily="34" charset="-122"/>
                <a:cs typeface="JetBrains Mono Medium" pitchFamily="34" charset="-120"/>
              </a:rPr>
              <a:t>CODE LANGUAGE</a:t>
            </a:r>
            <a:endParaRPr lang="en-US" sz="1100" dirty="0"/>
          </a:p>
        </p:txBody>
      </p:sp>
      <p:sp>
        <p:nvSpPr>
          <p:cNvPr id="6" name="Text 3"/>
          <p:cNvSpPr/>
          <p:nvPr/>
        </p:nvSpPr>
        <p:spPr>
          <a:xfrm>
            <a:off x="7711188" y="1307604"/>
            <a:ext cx="4023319" cy="266998"/>
          </a:xfrm>
          <a:prstGeom prst="rect">
            <a:avLst/>
          </a:prstGeom>
          <a:noFill/>
          <a:ln/>
        </p:spPr>
        <p:txBody>
          <a:bodyPr wrap="none" lIns="0" tIns="0" rIns="0" bIns="0" rtlCol="0" anchor="t"/>
          <a:lstStyle/>
          <a:p>
            <a:pPr algn="l" indent="0" marL="0">
              <a:lnSpc>
                <a:spcPct val="119000"/>
              </a:lnSpc>
              <a:buNone/>
            </a:pPr>
            <a:r>
              <a:rPr lang="en-US" sz="1450" b="1" dirty="0">
                <a:solidFill>
                  <a:srgbClr val="FFFFFF"/>
                </a:solidFill>
                <a:latin typeface="JetBrains Mono Bold" pitchFamily="34" charset="0"/>
                <a:ea typeface="JetBrains Mono Bold" pitchFamily="34" charset="-122"/>
                <a:cs typeface="JetBrains Mono Bold" pitchFamily="34" charset="-120"/>
              </a:rPr>
              <a:t>Python &amp; YAML</a:t>
            </a:r>
            <a:endParaRPr lang="en-US" sz="1450" dirty="0"/>
          </a:p>
        </p:txBody>
      </p:sp>
      <p:sp>
        <p:nvSpPr>
          <p:cNvPr id="7" name="Text 4"/>
          <p:cNvSpPr/>
          <p:nvPr/>
        </p:nvSpPr>
        <p:spPr>
          <a:xfrm>
            <a:off x="7711188" y="1683841"/>
            <a:ext cx="4023319" cy="177602"/>
          </a:xfrm>
          <a:prstGeom prst="rect">
            <a:avLst/>
          </a:prstGeom>
          <a:noFill/>
          <a:ln/>
        </p:spPr>
        <p:txBody>
          <a:bodyPr wrap="none" lIns="0" tIns="0" rIns="0" bIns="0" rtlCol="0" anchor="t"/>
          <a:lstStyle/>
          <a:p>
            <a:pPr algn="l" indent="0" marL="0">
              <a:lnSpc>
                <a:spcPct val="108000"/>
              </a:lnSpc>
              <a:buNone/>
            </a:pPr>
            <a:r>
              <a:rPr lang="en-US" sz="1100" spc="86" kern="0" dirty="0">
                <a:solidFill>
                  <a:srgbClr val="A9BEE6"/>
                </a:solidFill>
                <a:latin typeface="JetBrains Mono Medium" pitchFamily="34" charset="0"/>
                <a:ea typeface="JetBrains Mono Medium" pitchFamily="34" charset="-122"/>
                <a:cs typeface="JetBrains Mono Medium" pitchFamily="34" charset="-120"/>
              </a:rPr>
              <a:t>CORE PHILOSOPHY</a:t>
            </a:r>
            <a:endParaRPr lang="en-US" sz="1100" dirty="0"/>
          </a:p>
        </p:txBody>
      </p:sp>
      <p:sp>
        <p:nvSpPr>
          <p:cNvPr id="8" name="Text 5"/>
          <p:cNvSpPr/>
          <p:nvPr/>
        </p:nvSpPr>
        <p:spPr>
          <a:xfrm>
            <a:off x="7711188" y="1970683"/>
            <a:ext cx="4023319" cy="462756"/>
          </a:xfrm>
          <a:prstGeom prst="rect">
            <a:avLst/>
          </a:prstGeom>
          <a:noFill/>
          <a:ln/>
        </p:spPr>
        <p:txBody>
          <a:bodyPr wrap="square" lIns="0" tIns="0" rIns="0" bIns="0" rtlCol="0" anchor="t">
            <a:normAutofit/>
          </a:bodyPr>
          <a:lstStyle/>
          <a:p>
            <a:pPr algn="l" indent="0" marL="0">
              <a:lnSpc>
                <a:spcPct val="119000"/>
              </a:lnSpc>
              <a:buNone/>
            </a:pPr>
            <a:r>
              <a:rPr lang="en-US" sz="1250" dirty="0">
                <a:solidFill>
                  <a:srgbClr val="FFFFFF"/>
                </a:solidFill>
                <a:latin typeface="JetBrains Mono" pitchFamily="34" charset="0"/>
                <a:ea typeface="JetBrains Mono" pitchFamily="34" charset="-122"/>
                <a:cs typeface="JetBrains Mono" pitchFamily="34" charset="-120"/>
              </a:rPr>
              <a:t>Extreme speed, scalability, and event-driven automation.</a:t>
            </a:r>
            <a:endParaRPr lang="en-US" sz="1250" dirty="0"/>
          </a:p>
        </p:txBody>
      </p:sp>
      <p:sp>
        <p:nvSpPr>
          <p:cNvPr id="9" name="Shape 6"/>
          <p:cNvSpPr/>
          <p:nvPr/>
        </p:nvSpPr>
        <p:spPr>
          <a:xfrm>
            <a:off x="7711188" y="2585541"/>
            <a:ext cx="307372" cy="244475"/>
          </a:xfrm>
          <a:prstGeom prst="roundRect">
            <a:avLst>
              <a:gd name="adj" fmla="val 17142"/>
            </a:avLst>
          </a:prstGeom>
          <a:solidFill>
            <a:srgbClr val="FFFFFF"/>
          </a:solidFill>
          <a:ln/>
        </p:spPr>
        <p:txBody>
          <a:bodyPr/>
          <a:p/>
        </p:txBody>
      </p:sp>
      <p:sp>
        <p:nvSpPr>
          <p:cNvPr id="10" name="Text 7"/>
          <p:cNvSpPr/>
          <p:nvPr/>
        </p:nvSpPr>
        <p:spPr>
          <a:xfrm>
            <a:off x="7781036" y="2637929"/>
            <a:ext cx="777260" cy="139700"/>
          </a:xfrm>
          <a:prstGeom prst="rect">
            <a:avLst/>
          </a:prstGeom>
          <a:noFill/>
          <a:ln/>
        </p:spPr>
        <p:txBody>
          <a:bodyPr wrap="none" lIns="0" tIns="0" rIns="0" bIns="0" rtlCol="0" anchor="t"/>
          <a:lstStyle/>
          <a:p>
            <a:pPr algn="l" indent="0" marL="0">
              <a:lnSpc>
                <a:spcPct val="83000"/>
              </a:lnSpc>
              <a:buNone/>
            </a:pPr>
            <a:r>
              <a:rPr lang="en-US" sz="1100" dirty="0">
                <a:solidFill>
                  <a:srgbClr val="0F3F8E"/>
                </a:solidFill>
                <a:latin typeface="JetBrains Mono SemiBold" pitchFamily="34" charset="0"/>
                <a:ea typeface="JetBrains Mono SemiBold" pitchFamily="34" charset="-122"/>
                <a:cs typeface="JetBrains Mono SemiBold" pitchFamily="34" charset="-120"/>
              </a:rPr>
              <a:t>01</a:t>
            </a:r>
            <a:endParaRPr lang="en-US" sz="1100" dirty="0"/>
          </a:p>
        </p:txBody>
      </p:sp>
      <p:sp>
        <p:nvSpPr>
          <p:cNvPr id="11" name="Text 8"/>
          <p:cNvSpPr/>
          <p:nvPr/>
        </p:nvSpPr>
        <p:spPr>
          <a:xfrm>
            <a:off x="8170956" y="2542679"/>
            <a:ext cx="3563551" cy="274439"/>
          </a:xfrm>
          <a:prstGeom prst="rect">
            <a:avLst/>
          </a:prstGeom>
          <a:noFill/>
          <a:ln/>
        </p:spPr>
        <p:txBody>
          <a:bodyPr wrap="none" lIns="0" tIns="0" rIns="0" bIns="0" rtlCol="0" anchor="t"/>
          <a:lstStyle/>
          <a:p>
            <a:pPr algn="l" indent="0" marL="0">
              <a:lnSpc>
                <a:spcPct val="108000"/>
              </a:lnSpc>
              <a:buNone/>
            </a:pPr>
            <a:r>
              <a:rPr lang="en-US" sz="1650" dirty="0">
                <a:solidFill>
                  <a:srgbClr val="FFFFFF"/>
                </a:solidFill>
                <a:latin typeface="JetBrains Mono Medium" pitchFamily="34" charset="0"/>
                <a:ea typeface="JetBrains Mono Medium" pitchFamily="34" charset="-122"/>
                <a:cs typeface="JetBrains Mono Medium" pitchFamily="34" charset="-120"/>
              </a:rPr>
              <a:t>Salt Master</a:t>
            </a:r>
            <a:endParaRPr lang="en-US" sz="1650" dirty="0"/>
          </a:p>
        </p:txBody>
      </p:sp>
      <p:sp>
        <p:nvSpPr>
          <p:cNvPr id="12" name="Text 9"/>
          <p:cNvSpPr/>
          <p:nvPr/>
        </p:nvSpPr>
        <p:spPr>
          <a:xfrm>
            <a:off x="8170956" y="2953643"/>
            <a:ext cx="3563551" cy="355203"/>
          </a:xfrm>
          <a:prstGeom prst="rect">
            <a:avLst/>
          </a:prstGeom>
          <a:noFill/>
          <a:ln/>
        </p:spPr>
        <p:txBody>
          <a:bodyPr wrap="square" lIns="0" tIns="0" rIns="0" bIns="0" rtlCol="0" anchor="t">
            <a:normAutofit/>
          </a:bodyPr>
          <a:lstStyle/>
          <a:p>
            <a:pPr algn="l" indent="0" marL="0">
              <a:lnSpc>
                <a:spcPct val="108000"/>
              </a:lnSpc>
              <a:buNone/>
            </a:pPr>
            <a:r>
              <a:rPr lang="en-US" sz="1100" spc="11" kern="0" dirty="0">
                <a:solidFill>
                  <a:srgbClr val="A9BEE6"/>
                </a:solidFill>
                <a:latin typeface="JetBrains Mono" pitchFamily="34" charset="0"/>
                <a:ea typeface="JetBrains Mono" pitchFamily="34" charset="-122"/>
                <a:cs typeface="JetBrains Mono" pitchFamily="34" charset="-120"/>
              </a:rPr>
              <a:t>Central controlling server that issues commands.</a:t>
            </a:r>
            <a:endParaRPr lang="en-US" sz="1100" dirty="0"/>
          </a:p>
        </p:txBody>
      </p:sp>
      <p:sp>
        <p:nvSpPr>
          <p:cNvPr id="13" name="Shape 10"/>
          <p:cNvSpPr/>
          <p:nvPr/>
        </p:nvSpPr>
        <p:spPr>
          <a:xfrm>
            <a:off x="7711188" y="3808909"/>
            <a:ext cx="307372" cy="244475"/>
          </a:xfrm>
          <a:prstGeom prst="roundRect">
            <a:avLst>
              <a:gd name="adj" fmla="val 17142"/>
            </a:avLst>
          </a:prstGeom>
          <a:solidFill>
            <a:srgbClr val="FFFFFF"/>
          </a:solidFill>
          <a:ln/>
        </p:spPr>
        <p:txBody>
          <a:bodyPr/>
          <a:p/>
        </p:txBody>
      </p:sp>
      <p:sp>
        <p:nvSpPr>
          <p:cNvPr id="14" name="Text 11"/>
          <p:cNvSpPr/>
          <p:nvPr/>
        </p:nvSpPr>
        <p:spPr>
          <a:xfrm>
            <a:off x="7781036" y="3861296"/>
            <a:ext cx="777260" cy="139700"/>
          </a:xfrm>
          <a:prstGeom prst="rect">
            <a:avLst/>
          </a:prstGeom>
          <a:noFill/>
          <a:ln/>
        </p:spPr>
        <p:txBody>
          <a:bodyPr wrap="none" lIns="0" tIns="0" rIns="0" bIns="0" rtlCol="0" anchor="t"/>
          <a:lstStyle/>
          <a:p>
            <a:pPr algn="l" indent="0" marL="0">
              <a:lnSpc>
                <a:spcPct val="83000"/>
              </a:lnSpc>
              <a:buNone/>
            </a:pPr>
            <a:r>
              <a:rPr lang="en-US" sz="1100" dirty="0">
                <a:solidFill>
                  <a:srgbClr val="0F3F8E"/>
                </a:solidFill>
                <a:latin typeface="JetBrains Mono SemiBold" pitchFamily="34" charset="0"/>
                <a:ea typeface="JetBrains Mono SemiBold" pitchFamily="34" charset="-122"/>
                <a:cs typeface="JetBrains Mono SemiBold" pitchFamily="34" charset="-120"/>
              </a:rPr>
              <a:t>02</a:t>
            </a:r>
            <a:endParaRPr lang="en-US" sz="1100" dirty="0"/>
          </a:p>
        </p:txBody>
      </p:sp>
      <p:sp>
        <p:nvSpPr>
          <p:cNvPr id="15" name="Text 12"/>
          <p:cNvSpPr/>
          <p:nvPr/>
        </p:nvSpPr>
        <p:spPr>
          <a:xfrm>
            <a:off x="8170956" y="3766046"/>
            <a:ext cx="3563551" cy="274439"/>
          </a:xfrm>
          <a:prstGeom prst="rect">
            <a:avLst/>
          </a:prstGeom>
          <a:noFill/>
          <a:ln/>
        </p:spPr>
        <p:txBody>
          <a:bodyPr wrap="none" lIns="0" tIns="0" rIns="0" bIns="0" rtlCol="0" anchor="t"/>
          <a:lstStyle/>
          <a:p>
            <a:pPr algn="l" indent="0" marL="0">
              <a:lnSpc>
                <a:spcPct val="108000"/>
              </a:lnSpc>
              <a:buNone/>
            </a:pPr>
            <a:r>
              <a:rPr lang="en-US" sz="1650" dirty="0">
                <a:solidFill>
                  <a:srgbClr val="FFFFFF"/>
                </a:solidFill>
                <a:latin typeface="JetBrains Mono Medium" pitchFamily="34" charset="0"/>
                <a:ea typeface="JetBrains Mono Medium" pitchFamily="34" charset="-122"/>
                <a:cs typeface="JetBrains Mono Medium" pitchFamily="34" charset="-120"/>
              </a:rPr>
              <a:t>Salt Minions</a:t>
            </a:r>
            <a:endParaRPr lang="en-US" sz="1650" dirty="0"/>
          </a:p>
        </p:txBody>
      </p:sp>
      <p:sp>
        <p:nvSpPr>
          <p:cNvPr id="16" name="Text 13"/>
          <p:cNvSpPr/>
          <p:nvPr/>
        </p:nvSpPr>
        <p:spPr>
          <a:xfrm>
            <a:off x="8170956" y="4177010"/>
            <a:ext cx="3563551" cy="355203"/>
          </a:xfrm>
          <a:prstGeom prst="rect">
            <a:avLst/>
          </a:prstGeom>
          <a:noFill/>
          <a:ln/>
        </p:spPr>
        <p:txBody>
          <a:bodyPr wrap="square" lIns="0" tIns="0" rIns="0" bIns="0" rtlCol="0" anchor="t">
            <a:normAutofit/>
          </a:bodyPr>
          <a:lstStyle/>
          <a:p>
            <a:pPr algn="l" indent="0" marL="0">
              <a:lnSpc>
                <a:spcPct val="108000"/>
              </a:lnSpc>
              <a:buNone/>
            </a:pPr>
            <a:r>
              <a:rPr lang="en-US" sz="1100" spc="11" kern="0" dirty="0">
                <a:solidFill>
                  <a:srgbClr val="A9BEE6"/>
                </a:solidFill>
                <a:latin typeface="JetBrains Mono" pitchFamily="34" charset="0"/>
                <a:ea typeface="JetBrains Mono" pitchFamily="34" charset="-122"/>
                <a:cs typeface="JetBrains Mono" pitchFamily="34" charset="-120"/>
              </a:rPr>
              <a:t>Lightweight agent processes running on managed servers.</a:t>
            </a:r>
            <a:endParaRPr lang="en-US" sz="1100" dirty="0"/>
          </a:p>
        </p:txBody>
      </p:sp>
      <p:sp>
        <p:nvSpPr>
          <p:cNvPr id="17" name="Text 14"/>
          <p:cNvSpPr/>
          <p:nvPr/>
        </p:nvSpPr>
        <p:spPr>
          <a:xfrm>
            <a:off x="7711188" y="4641453"/>
            <a:ext cx="4023319" cy="1156891"/>
          </a:xfrm>
          <a:prstGeom prst="rect">
            <a:avLst/>
          </a:prstGeom>
          <a:noFill/>
          <a:ln/>
        </p:spPr>
        <p:txBody>
          <a:bodyPr wrap="square" lIns="0" tIns="0" rIns="0" bIns="0" rtlCol="0" anchor="t">
            <a:normAutofit/>
          </a:bodyPr>
          <a:lstStyle/>
          <a:p>
            <a:pPr algn="l" indent="0" marL="0">
              <a:lnSpc>
                <a:spcPct val="119000"/>
              </a:lnSpc>
              <a:buNone/>
            </a:pPr>
            <a:r>
              <a:rPr lang="en-US" sz="1250" b="1" dirty="0">
                <a:solidFill>
                  <a:srgbClr val="FFFFFF"/>
                </a:solidFill>
                <a:latin typeface="JetBrains Mono Bold" pitchFamily="34" charset="0"/>
                <a:ea typeface="JetBrains Mono Bold" pitchFamily="34" charset="-122"/>
                <a:cs typeface="JetBrains Mono Bold" pitchFamily="34" charset="-120"/>
              </a:rPr>
              <a:t>Why SaltStack is super fast:</a:t>
            </a:r>
            <a:pPr algn="l" indent="0" marL="0">
              <a:lnSpc>
                <a:spcPct val="119000"/>
              </a:lnSpc>
              <a:buNone/>
            </a:pPr>
            <a:r>
              <a:rPr lang="en-US" sz="1250" dirty="0">
                <a:solidFill>
                  <a:srgbClr val="FFFFFF"/>
                </a:solidFill>
                <a:latin typeface="JetBrains Mono" pitchFamily="34" charset="0"/>
                <a:ea typeface="JetBrains Mono" pitchFamily="34" charset="-122"/>
                <a:cs typeface="JetBrains Mono" pitchFamily="34" charset="-120"/>
              </a:rPr>
              <a:t> powered by the ZeroMQ communication bus, using a Push / Publish-Subscribe model to send commands to 10,000 servers in milliseconds.</a:t>
            </a:r>
            <a:endParaRPr lang="en-US" sz="1250" dirty="0"/>
          </a:p>
        </p:txBody>
      </p:sp>
      <p:sp>
        <p:nvSpPr>
          <p:cNvPr id="18" name="Shape 15"/>
          <p:cNvSpPr/>
          <p:nvPr/>
        </p:nvSpPr>
        <p:spPr>
          <a:xfrm>
            <a:off x="457189" y="5968305"/>
            <a:ext cx="11277318" cy="892671"/>
          </a:xfrm>
          <a:prstGeom prst="roundRect">
            <a:avLst>
              <a:gd name="adj" fmla="val 1280"/>
            </a:avLst>
          </a:prstGeom>
          <a:solidFill>
            <a:srgbClr val="803800"/>
          </a:solidFill>
          <a:ln/>
        </p:spPr>
        <p:txBody>
          <a:bodyPr/>
          <a:p/>
        </p:txBody>
      </p:sp>
      <p:sp>
        <p:nvSpPr>
          <p:cNvPr id="19" name="Text 16"/>
          <p:cNvSpPr/>
          <p:nvPr/>
        </p:nvSpPr>
        <p:spPr>
          <a:xfrm>
            <a:off x="643417" y="6201073"/>
            <a:ext cx="10904860" cy="427137"/>
          </a:xfrm>
          <a:prstGeom prst="rect">
            <a:avLst/>
          </a:prstGeom>
          <a:noFill/>
          <a:ln/>
        </p:spPr>
        <p:txBody>
          <a:bodyPr wrap="square" lIns="0" tIns="0" rIns="0" bIns="0" rtlCol="0" anchor="t">
            <a:normAutofit/>
          </a:bodyPr>
          <a:lstStyle/>
          <a:p>
            <a:pPr algn="l" indent="0" marL="0">
              <a:lnSpc>
                <a:spcPct val="119000"/>
              </a:lnSpc>
              <a:buNone/>
            </a:pPr>
            <a:r>
              <a:rPr lang="en-US" sz="800" dirty="0">
                <a:solidFill>
                  <a:srgbClr val="FFFFFF"/>
                </a:solidFill>
                <a:latin typeface="JetBrains Mono" pitchFamily="34" charset="0"/>
                <a:ea typeface="JetBrains Mono" pitchFamily="34" charset="-122"/>
                <a:cs typeface="JetBrains Mono" pitchFamily="34" charset="-120"/>
              </a:rPr>
              <a:t>Now let us look at the second tool: SaltStack. SaltStack is built with Python and uses YAML for configuration. Unlike Chef's pull model, SaltStack uses a Push model. The Salt Master uses a high-speed bus called ZeroMQ to push commands instantly to all Salt Minions. It can configure thousands of servers in just seconds. Now, Lokesh will show the SaltStack code and comparison.</a:t>
            </a:r>
            <a:endParaRPr lang="en-US" sz="800" dirty="0"/>
          </a:p>
        </p:txBody>
      </p:sp>
      <p:sp>
        <p:nvSpPr>
          <p:cNvPr id="20" name="Shape 17"/>
          <p:cNvSpPr/>
          <p:nvPr/>
        </p:nvSpPr>
        <p:spPr>
          <a:xfrm>
            <a:off x="0" y="6400800"/>
            <a:ext cx="12191695" cy="9525"/>
          </a:xfrm>
          <a:prstGeom prst="rect">
            <a:avLst/>
          </a:prstGeom>
          <a:solidFill>
            <a:srgbClr val="FFFFFF">
              <a:alpha val="20000"/>
            </a:srgbClr>
          </a:solidFill>
          <a:ln/>
        </p:spPr>
        <p:txBody>
          <a:bodyPr/>
          <a:p/>
        </p:txBody>
      </p:sp>
      <p:sp>
        <p:nvSpPr>
          <p:cNvPr id="22" name="Shape 19"/>
          <p:cNvSpPr/>
          <p:nvPr/>
        </p:nvSpPr>
        <p:spPr>
          <a:xfrm>
            <a:off x="7711188" y="3531096"/>
            <a:ext cx="4023319" cy="12700"/>
          </a:xfrm>
          <a:prstGeom prst="rect">
            <a:avLst/>
          </a:prstGeom>
          <a:solidFill>
            <a:srgbClr val="FFFFFF"/>
          </a:solidFill>
          <a:ln/>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189" y="457200"/>
            <a:ext cx="11277318" cy="353814"/>
          </a:xfrm>
          <a:prstGeom prst="rect">
            <a:avLst/>
          </a:prstGeom>
          <a:noFill/>
          <a:ln/>
        </p:spPr>
        <p:txBody>
          <a:bodyPr wrap="none" lIns="0" tIns="0" rIns="0" bIns="0" rtlCol="0" anchor="t"/>
          <a:lstStyle/>
          <a:p>
            <a:pPr algn="l" indent="0" marL="0">
              <a:lnSpc>
                <a:spcPct val="90000"/>
              </a:lnSpc>
              <a:buNone/>
            </a:pPr>
            <a:r>
              <a:rPr lang="en-US" sz="2600" b="1" spc="77" kern="0" dirty="0">
                <a:solidFill>
                  <a:srgbClr val="FFFFFF"/>
                </a:solidFill>
                <a:latin typeface="Martian Mono Bold" pitchFamily="34" charset="0"/>
                <a:ea typeface="Martian Mono Bold" pitchFamily="34" charset="-122"/>
                <a:cs typeface="Martian Mono Bold" pitchFamily="34" charset="-120"/>
              </a:rPr>
              <a:t>SALTSTACK – SLS STATES &amp; COMPARISON</a:t>
            </a:r>
            <a:endParaRPr lang="en-US" sz="2600" dirty="0"/>
          </a:p>
        </p:txBody>
      </p:sp>
      <p:sp>
        <p:nvSpPr>
          <p:cNvPr id="3" name="Text 1"/>
          <p:cNvSpPr/>
          <p:nvPr/>
        </p:nvSpPr>
        <p:spPr>
          <a:xfrm>
            <a:off x="457189" y="978098"/>
            <a:ext cx="5049414" cy="167283"/>
          </a:xfrm>
          <a:prstGeom prst="rect">
            <a:avLst/>
          </a:prstGeom>
          <a:noFill/>
          <a:ln/>
        </p:spPr>
        <p:txBody>
          <a:bodyPr wrap="none" lIns="0" tIns="0" rIns="0" bIns="0" rtlCol="0" anchor="t"/>
          <a:lstStyle/>
          <a:p>
            <a:pPr algn="l" indent="0" marL="0">
              <a:lnSpc>
                <a:spcPct val="108000"/>
              </a:lnSpc>
              <a:buNone/>
            </a:pPr>
            <a:r>
              <a:rPr lang="en-US" sz="1000" spc="81" kern="0" dirty="0">
                <a:solidFill>
                  <a:srgbClr val="A9BEE6"/>
                </a:solidFill>
                <a:latin typeface="JetBrains Mono Medium" pitchFamily="34" charset="0"/>
                <a:ea typeface="JetBrains Mono Medium" pitchFamily="34" charset="-122"/>
                <a:cs typeface="JetBrains Mono Medium" pitchFamily="34" charset="-120"/>
              </a:rPr>
              <a:t>SALT STATE EXAMPLE (WEBSERVER.SLS, YAML)</a:t>
            </a:r>
            <a:endParaRPr lang="en-US" sz="1000" dirty="0"/>
          </a:p>
        </p:txBody>
      </p:sp>
      <p:sp>
        <p:nvSpPr>
          <p:cNvPr id="4" name="Shape 2"/>
          <p:cNvSpPr/>
          <p:nvPr/>
        </p:nvSpPr>
        <p:spPr>
          <a:xfrm>
            <a:off x="457189" y="1342827"/>
            <a:ext cx="5049414" cy="4001294"/>
          </a:xfrm>
          <a:prstGeom prst="roundRect">
            <a:avLst>
              <a:gd name="adj" fmla="val 286"/>
            </a:avLst>
          </a:prstGeom>
          <a:solidFill>
            <a:srgbClr val="1A4C9C"/>
          </a:solidFill>
          <a:ln/>
        </p:spPr>
        <p:txBody>
          <a:bodyPr/>
          <a:p/>
        </p:txBody>
      </p:sp>
      <p:sp>
        <p:nvSpPr>
          <p:cNvPr id="5" name="Text 3"/>
          <p:cNvSpPr/>
          <p:nvPr/>
        </p:nvSpPr>
        <p:spPr>
          <a:xfrm>
            <a:off x="667725" y="1518345"/>
            <a:ext cx="4628340" cy="3650258"/>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79C0FF"/>
                </a:solidFill>
                <a:latin typeface="Consolas" pitchFamily="34" charset="0"/>
                <a:ea typeface="Consolas" pitchFamily="34" charset="-122"/>
                <a:cs typeface="Consolas" pitchFamily="34" charset="-120"/>
              </a:rPr>
              <a:t>install_nginx:</a:t>
            </a:r>
            <a:endParaRPr lang="en-US" sz="1400" dirty="0"/>
          </a:p>
          <a:p>
            <a:pPr algn="l" indent="0" marL="0">
              <a:lnSpc>
                <a:spcPct val="133000"/>
              </a:lnSpc>
              <a:buNone/>
            </a:pPr>
            <a:r>
              <a:rPr lang="en-US" sz="1400" dirty="0">
                <a:solidFill>
                  <a:srgbClr val="79C0FF"/>
                </a:solidFill>
                <a:latin typeface="Consolas" pitchFamily="34" charset="0"/>
                <a:ea typeface="Consolas" pitchFamily="34" charset="-122"/>
                <a:cs typeface="Consolas" pitchFamily="34" charset="-120"/>
              </a:rPr>
              <a:t>  pkg.installed:</a:t>
            </a:r>
            <a:endParaRPr lang="en-US" sz="1400" dirty="0"/>
          </a:p>
          <a:p>
            <a:pPr algn="l" indent="0" marL="0">
              <a:lnSpc>
                <a:spcPct val="133000"/>
              </a:lnSpc>
              <a:buNone/>
            </a:pPr>
            <a:r>
              <a:rPr lang="en-US" sz="1400" dirty="0">
                <a:solidFill>
                  <a:srgbClr val="79C0FF"/>
                </a:solidFill>
                <a:latin typeface="Consolas" pitchFamily="34" charset="0"/>
                <a:ea typeface="Consolas" pitchFamily="34" charset="-122"/>
                <a:cs typeface="Consolas" pitchFamily="34" charset="-120"/>
              </a:rPr>
              <a:t>    - name: nginx</a:t>
            </a:r>
            <a:endParaRPr lang="en-US" sz="1400" dirty="0"/>
          </a:p>
          <a:p>
            <a:pPr algn="l" indent="0" marL="0">
              <a:lnSpc>
                <a:spcPct val="133000"/>
              </a:lnSpc>
              <a:buNone/>
            </a:pPr>
            <a:endParaRPr lang="en-US" sz="1400" dirty="0"/>
          </a:p>
          <a:p>
            <a:pPr algn="l" indent="0" marL="0">
              <a:lnSpc>
                <a:spcPct val="133000"/>
              </a:lnSpc>
              <a:buNone/>
            </a:pPr>
            <a:r>
              <a:rPr lang="en-US" sz="1400" dirty="0">
                <a:solidFill>
                  <a:srgbClr val="79C0FF"/>
                </a:solidFill>
                <a:latin typeface="Consolas" pitchFamily="34" charset="0"/>
                <a:ea typeface="Consolas" pitchFamily="34" charset="-122"/>
                <a:cs typeface="Consolas" pitchFamily="34" charset="-120"/>
              </a:rPr>
              <a:t>deploy_page:</a:t>
            </a:r>
            <a:endParaRPr lang="en-US" sz="1400" dirty="0"/>
          </a:p>
          <a:p>
            <a:pPr algn="l" indent="0" marL="0">
              <a:lnSpc>
                <a:spcPct val="133000"/>
              </a:lnSpc>
              <a:buNone/>
            </a:pPr>
            <a:r>
              <a:rPr lang="en-US" sz="1400" dirty="0">
                <a:solidFill>
                  <a:srgbClr val="79C0FF"/>
                </a:solidFill>
                <a:latin typeface="Consolas" pitchFamily="34" charset="0"/>
                <a:ea typeface="Consolas" pitchFamily="34" charset="-122"/>
                <a:cs typeface="Consolas" pitchFamily="34" charset="-120"/>
              </a:rPr>
              <a:t>  file.managed:</a:t>
            </a:r>
            <a:endParaRPr lang="en-US" sz="1400" dirty="0"/>
          </a:p>
          <a:p>
            <a:pPr algn="l" indent="0" marL="0">
              <a:lnSpc>
                <a:spcPct val="133000"/>
              </a:lnSpc>
              <a:buNone/>
            </a:pPr>
            <a:r>
              <a:rPr lang="en-US" sz="1400" dirty="0">
                <a:solidFill>
                  <a:srgbClr val="79C0FF"/>
                </a:solidFill>
                <a:latin typeface="Consolas" pitchFamily="34" charset="0"/>
                <a:ea typeface="Consolas" pitchFamily="34" charset="-122"/>
                <a:cs typeface="Consolas" pitchFamily="34" charset="-120"/>
              </a:rPr>
              <a:t>    - name: /var/www/html/index.html</a:t>
            </a:r>
            <a:endParaRPr lang="en-US" sz="1400" dirty="0"/>
          </a:p>
          <a:p>
            <a:pPr algn="l" indent="0" marL="0">
              <a:lnSpc>
                <a:spcPct val="133000"/>
              </a:lnSpc>
              <a:buNone/>
            </a:pPr>
            <a:r>
              <a:rPr lang="en-US" sz="1400" dirty="0">
                <a:solidFill>
                  <a:srgbClr val="79C0FF"/>
                </a:solidFill>
                <a:latin typeface="Consolas" pitchFamily="34" charset="0"/>
                <a:ea typeface="Consolas" pitchFamily="34" charset="-122"/>
                <a:cs typeface="Consolas" pitchFamily="34" charset="-120"/>
              </a:rPr>
              <a:t>    - contents: "&lt;h1&gt;Deployed via SaltStack!&lt;/h1&gt;"</a:t>
            </a:r>
            <a:endParaRPr lang="en-US" sz="1400" dirty="0"/>
          </a:p>
          <a:p>
            <a:pPr algn="l" indent="0" marL="0">
              <a:lnSpc>
                <a:spcPct val="133000"/>
              </a:lnSpc>
              <a:buNone/>
            </a:pPr>
            <a:endParaRPr lang="en-US" sz="1400" dirty="0"/>
          </a:p>
          <a:p>
            <a:pPr algn="l" indent="0" marL="0">
              <a:lnSpc>
                <a:spcPct val="133000"/>
              </a:lnSpc>
              <a:buNone/>
            </a:pPr>
            <a:r>
              <a:rPr lang="en-US" sz="1400" dirty="0">
                <a:solidFill>
                  <a:srgbClr val="79C0FF"/>
                </a:solidFill>
                <a:latin typeface="Consolas" pitchFamily="34" charset="0"/>
                <a:ea typeface="Consolas" pitchFamily="34" charset="-122"/>
                <a:cs typeface="Consolas" pitchFamily="34" charset="-120"/>
              </a:rPr>
              <a:t>start_service:</a:t>
            </a:r>
            <a:endParaRPr lang="en-US" sz="1400" dirty="0"/>
          </a:p>
          <a:p>
            <a:pPr algn="l" indent="0" marL="0">
              <a:lnSpc>
                <a:spcPct val="133000"/>
              </a:lnSpc>
              <a:buNone/>
            </a:pPr>
            <a:r>
              <a:rPr lang="en-US" sz="1400" dirty="0">
                <a:solidFill>
                  <a:srgbClr val="79C0FF"/>
                </a:solidFill>
                <a:latin typeface="Consolas" pitchFamily="34" charset="0"/>
                <a:ea typeface="Consolas" pitchFamily="34" charset="-122"/>
                <a:cs typeface="Consolas" pitchFamily="34" charset="-120"/>
              </a:rPr>
              <a:t>  service.running:</a:t>
            </a:r>
            <a:endParaRPr lang="en-US" sz="1400" dirty="0"/>
          </a:p>
          <a:p>
            <a:pPr algn="l" indent="0" marL="0">
              <a:lnSpc>
                <a:spcPct val="133000"/>
              </a:lnSpc>
              <a:buNone/>
            </a:pPr>
            <a:r>
              <a:rPr lang="en-US" sz="1400" dirty="0">
                <a:solidFill>
                  <a:srgbClr val="79C0FF"/>
                </a:solidFill>
                <a:latin typeface="Consolas" pitchFamily="34" charset="0"/>
                <a:ea typeface="Consolas" pitchFamily="34" charset="-122"/>
                <a:cs typeface="Consolas" pitchFamily="34" charset="-120"/>
              </a:rPr>
              <a:t>    - name: nginx</a:t>
            </a:r>
            <a:endParaRPr lang="en-US" sz="1400" dirty="0"/>
          </a:p>
          <a:p>
            <a:pPr algn="l" indent="0" marL="0">
              <a:lnSpc>
                <a:spcPct val="133000"/>
              </a:lnSpc>
              <a:buNone/>
            </a:pPr>
            <a:r>
              <a:rPr lang="en-US" sz="1400" dirty="0">
                <a:solidFill>
                  <a:srgbClr val="79C0FF"/>
                </a:solidFill>
                <a:latin typeface="Consolas" pitchFamily="34" charset="0"/>
                <a:ea typeface="Consolas" pitchFamily="34" charset="-122"/>
                <a:cs typeface="Consolas" pitchFamily="34" charset="-120"/>
              </a:rPr>
              <a:t>    - enable: True</a:t>
            </a:r>
            <a:endParaRPr lang="en-US" sz="1400" dirty="0"/>
          </a:p>
        </p:txBody>
      </p:sp>
      <p:sp>
        <p:nvSpPr>
          <p:cNvPr id="6" name="Text 4"/>
          <p:cNvSpPr/>
          <p:nvPr/>
        </p:nvSpPr>
        <p:spPr>
          <a:xfrm>
            <a:off x="5963691" y="1762720"/>
            <a:ext cx="5770815" cy="167283"/>
          </a:xfrm>
          <a:prstGeom prst="rect">
            <a:avLst/>
          </a:prstGeom>
          <a:noFill/>
          <a:ln/>
        </p:spPr>
        <p:txBody>
          <a:bodyPr wrap="none" lIns="0" tIns="0" rIns="0" bIns="0" rtlCol="0" anchor="t"/>
          <a:lstStyle/>
          <a:p>
            <a:pPr algn="l" indent="0" marL="0">
              <a:lnSpc>
                <a:spcPct val="108000"/>
              </a:lnSpc>
              <a:buNone/>
            </a:pPr>
            <a:r>
              <a:rPr lang="en-US" sz="1000" spc="81" kern="0" dirty="0">
                <a:solidFill>
                  <a:srgbClr val="A9BEE6"/>
                </a:solidFill>
                <a:latin typeface="JetBrains Mono Medium" pitchFamily="34" charset="0"/>
                <a:ea typeface="JetBrains Mono Medium" pitchFamily="34" charset="-122"/>
                <a:cs typeface="JetBrains Mono Medium" pitchFamily="34" charset="-120"/>
              </a:rPr>
              <a:t>CHEF VS SALTSTACK COMPARISON</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63691" y="2026940"/>
          <a:ext cx="9143771" cy="914400"/>
        </p:xfrm>
        <a:graphic>
          <a:graphicData uri="http://schemas.openxmlformats.org/drawingml/2006/table">
            <a:tbl>
              <a:tblPr/>
              <a:tblGrid>
                <a:gridCol w="914400"/>
                <a:gridCol w="914400"/>
                <a:gridCol w="914400"/>
                <a:gridCol w="914400"/>
              </a:tblGrid>
              <a:tr h="345570">
                <a:tc>
                  <a:txBody>
                    <a:bodyPr/>
                    <a:lstStyle/>
                    <a:p>
                      <a:pPr indent="0" marL="0">
                        <a:buNone/>
                      </a:pPr>
                      <a:r>
                        <a:rPr lang="en-US" sz="1200" spc="96" kern="0" dirty="0">
                          <a:solidFill>
                            <a:srgbClr val="FFFFFF"/>
                          </a:solidFill>
                          <a:latin typeface="JetBrains Mono" pitchFamily="34" charset="0"/>
                          <a:ea typeface="JetBrains Mono" pitchFamily="34" charset="-122"/>
                          <a:cs typeface="JetBrains Mono" pitchFamily="34" charset="-120"/>
                        </a:rPr>
                        <a:t>ASPECT</a:t>
                      </a:r>
                      <a:endParaRPr lang="en-US" sz="12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c>
                  <a:txBody>
                    <a:bodyPr/>
                    <a:lstStyle/>
                    <a:p>
                      <a:pPr indent="0" marL="0">
                        <a:buNone/>
                      </a:pPr>
                      <a:r>
                        <a:rPr lang="en-US" sz="1200" spc="96" kern="0" dirty="0">
                          <a:solidFill>
                            <a:srgbClr val="FFFFFF"/>
                          </a:solidFill>
                          <a:latin typeface="JetBrains Mono" pitchFamily="34" charset="0"/>
                          <a:ea typeface="JetBrains Mono" pitchFamily="34" charset="-122"/>
                          <a:cs typeface="JetBrains Mono" pitchFamily="34" charset="-120"/>
                        </a:rPr>
                        <a:t>CHEF</a:t>
                      </a:r>
                      <a:endParaRPr lang="en-US" sz="12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c>
                  <a:txBody>
                    <a:bodyPr/>
                    <a:lstStyle/>
                    <a:p>
                      <a:pPr indent="0" marL="0">
                        <a:buNone/>
                      </a:pPr>
                      <a:r>
                        <a:rPr lang="en-US" sz="1200" spc="96" kern="0" dirty="0">
                          <a:solidFill>
                            <a:srgbClr val="FFFFFF"/>
                          </a:solidFill>
                          <a:latin typeface="JetBrains Mono" pitchFamily="34" charset="0"/>
                          <a:ea typeface="JetBrains Mono" pitchFamily="34" charset="-122"/>
                          <a:cs typeface="JetBrains Mono" pitchFamily="34" charset="-120"/>
                        </a:rPr>
                        <a:t>SALTSTACK</a:t>
                      </a:r>
                      <a:endParaRPr lang="en-US" sz="12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c>
                  <a:txBody>
                    <a:bodyPr/>
                    <a:lstStyle/>
                    <a:p>
                      <a:pPr indent="0" marL="0">
                        <a:buNone/>
                      </a:pPr>
                      <a:endParaRPr lang="en-US" sz="12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r>
              <a:tr h="377816">
                <a:tc>
                  <a:txBody>
                    <a:bodyPr/>
                    <a:lstStyle/>
                    <a:p>
                      <a:pPr indent="0" marL="0">
                        <a:buNone/>
                      </a:pPr>
                      <a:r>
                        <a:rPr lang="en-US" sz="1400" dirty="0">
                          <a:solidFill>
                            <a:srgbClr val="FFFFFF"/>
                          </a:solidFill>
                          <a:latin typeface="JetBrains Mono" pitchFamily="34" charset="0"/>
                          <a:ea typeface="JetBrains Mono" pitchFamily="34" charset="-122"/>
                          <a:cs typeface="JetBrains Mono" pitchFamily="34" charset="-120"/>
                        </a:rPr>
                        <a:t>Code Language</a:t>
                      </a: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c>
                  <a:txBody>
                    <a:bodyPr/>
                    <a:lstStyle/>
                    <a:p>
                      <a:pPr indent="0" marL="0">
                        <a:buNone/>
                      </a:pPr>
                      <a:r>
                        <a:rPr lang="en-US" sz="1400" dirty="0">
                          <a:solidFill>
                            <a:srgbClr val="FFFFFF"/>
                          </a:solidFill>
                          <a:latin typeface="JetBrains Mono" pitchFamily="34" charset="0"/>
                          <a:ea typeface="JetBrains Mono" pitchFamily="34" charset="-122"/>
                          <a:cs typeface="JetBrains Mono" pitchFamily="34" charset="-120"/>
                        </a:rPr>
                        <a:t>Ruby DSL</a:t>
                      </a: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c>
                  <a:txBody>
                    <a:bodyPr/>
                    <a:lstStyle/>
                    <a:p>
                      <a:pPr indent="0" marL="0">
                        <a:buNone/>
                      </a:pPr>
                      <a:r>
                        <a:rPr lang="en-US" sz="1400" dirty="0">
                          <a:solidFill>
                            <a:srgbClr val="FFFFFF"/>
                          </a:solidFill>
                          <a:latin typeface="JetBrains Mono" pitchFamily="34" charset="0"/>
                          <a:ea typeface="JetBrains Mono" pitchFamily="34" charset="-122"/>
                          <a:cs typeface="JetBrains Mono" pitchFamily="34" charset="-120"/>
                        </a:rPr>
                        <a:t>YAML &amp; Python</a:t>
                      </a: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c>
                  <a:txBody>
                    <a:bodyPr/>
                    <a:lstStyle/>
                    <a:p>
                      <a:pPr indent="0" marL="0">
                        <a:buNone/>
                      </a:pP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r>
              <a:tr h="377816">
                <a:tc>
                  <a:txBody>
                    <a:bodyPr/>
                    <a:lstStyle/>
                    <a:p>
                      <a:pPr indent="0" marL="0">
                        <a:buNone/>
                      </a:pPr>
                      <a:r>
                        <a:rPr lang="en-US" sz="1400" dirty="0">
                          <a:solidFill>
                            <a:srgbClr val="FFFFFF"/>
                          </a:solidFill>
                          <a:latin typeface="JetBrains Mono" pitchFamily="34" charset="0"/>
                          <a:ea typeface="JetBrains Mono" pitchFamily="34" charset="-122"/>
                          <a:cs typeface="JetBrains Mono" pitchFamily="34" charset="-120"/>
                        </a:rPr>
                        <a:t>Architecture</a:t>
                      </a: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c>
                  <a:txBody>
                    <a:bodyPr/>
                    <a:lstStyle/>
                    <a:p>
                      <a:pPr indent="0" marL="0">
                        <a:buNone/>
                      </a:pPr>
                      <a:r>
                        <a:rPr lang="en-US" sz="1400" dirty="0">
                          <a:solidFill>
                            <a:srgbClr val="FFFFFF"/>
                          </a:solidFill>
                          <a:latin typeface="JetBrains Mono" pitchFamily="34" charset="0"/>
                          <a:ea typeface="JetBrains Mono" pitchFamily="34" charset="-122"/>
                          <a:cs typeface="JetBrains Mono" pitchFamily="34" charset="-120"/>
                        </a:rPr>
                        <a:t>Pull-based</a:t>
                      </a: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c>
                  <a:txBody>
                    <a:bodyPr/>
                    <a:lstStyle/>
                    <a:p>
                      <a:pPr indent="0" marL="0">
                        <a:buNone/>
                      </a:pPr>
                      <a:r>
                        <a:rPr lang="en-US" sz="1400" dirty="0">
                          <a:solidFill>
                            <a:srgbClr val="FFFFFF"/>
                          </a:solidFill>
                          <a:latin typeface="JetBrains Mono" pitchFamily="34" charset="0"/>
                          <a:ea typeface="JetBrains Mono" pitchFamily="34" charset="-122"/>
                          <a:cs typeface="JetBrains Mono" pitchFamily="34" charset="-120"/>
                        </a:rPr>
                        <a:t>Push-based</a:t>
                      </a: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c>
                  <a:txBody>
                    <a:bodyPr/>
                    <a:lstStyle/>
                    <a:p>
                      <a:pPr indent="0" marL="0">
                        <a:buNone/>
                      </a:pP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r>
              <a:tr h="622284">
                <a:tc>
                  <a:txBody>
                    <a:bodyPr/>
                    <a:lstStyle/>
                    <a:p>
                      <a:pPr indent="0" marL="0">
                        <a:buNone/>
                      </a:pPr>
                      <a:r>
                        <a:rPr lang="en-US" sz="1400" dirty="0">
                          <a:solidFill>
                            <a:srgbClr val="FFFFFF"/>
                          </a:solidFill>
                          <a:latin typeface="JetBrains Mono" pitchFamily="34" charset="0"/>
                          <a:ea typeface="JetBrains Mono" pitchFamily="34" charset="-122"/>
                          <a:cs typeface="JetBrains Mono" pitchFamily="34" charset="-120"/>
                        </a:rPr>
                        <a:t>Communication</a:t>
                      </a: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c>
                  <a:txBody>
                    <a:bodyPr/>
                    <a:lstStyle/>
                    <a:p>
                      <a:pPr indent="0" marL="0">
                        <a:buNone/>
                      </a:pPr>
                      <a:r>
                        <a:rPr lang="en-US" sz="1400" dirty="0">
                          <a:solidFill>
                            <a:srgbClr val="FFFFFF"/>
                          </a:solidFill>
                          <a:latin typeface="JetBrains Mono" pitchFamily="34" charset="0"/>
                          <a:ea typeface="JetBrains Mono" pitchFamily="34" charset="-122"/>
                          <a:cs typeface="JetBrains Mono" pitchFamily="34" charset="-120"/>
                        </a:rPr>
                        <a:t>HTTPS</a:t>
                      </a: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c>
                  <a:txBody>
                    <a:bodyPr/>
                    <a:lstStyle/>
                    <a:p>
                      <a:pPr indent="0" marL="0">
                        <a:buNone/>
                      </a:pPr>
                      <a:r>
                        <a:rPr lang="en-US" sz="1400" dirty="0">
                          <a:solidFill>
                            <a:srgbClr val="FFFFFF"/>
                          </a:solidFill>
                          <a:latin typeface="JetBrains Mono" pitchFamily="34" charset="0"/>
                          <a:ea typeface="JetBrains Mono" pitchFamily="34" charset="-122"/>
                          <a:cs typeface="JetBrains Mono" pitchFamily="34" charset="-120"/>
                        </a:rPr>
                        <a:t>ZeroMQ (ultra fast)</a:t>
                      </a: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c>
                  <a:txBody>
                    <a:bodyPr/>
                    <a:lstStyle/>
                    <a:p>
                      <a:pPr indent="0" marL="0">
                        <a:buNone/>
                      </a:pP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r>
              <a:tr h="377816">
                <a:tc>
                  <a:txBody>
                    <a:bodyPr/>
                    <a:lstStyle/>
                    <a:p>
                      <a:pPr indent="0" marL="0">
                        <a:buNone/>
                      </a:pPr>
                      <a:r>
                        <a:rPr lang="en-US" sz="1400" dirty="0">
                          <a:solidFill>
                            <a:srgbClr val="FFFFFF"/>
                          </a:solidFill>
                          <a:latin typeface="JetBrains Mono" pitchFamily="34" charset="0"/>
                          <a:ea typeface="JetBrains Mono" pitchFamily="34" charset="-122"/>
                          <a:cs typeface="JetBrains Mono" pitchFamily="34" charset="-120"/>
                        </a:rPr>
                        <a:t>Config Files</a:t>
                      </a: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c>
                  <a:txBody>
                    <a:bodyPr/>
                    <a:lstStyle/>
                    <a:p>
                      <a:pPr indent="0" marL="0">
                        <a:buNone/>
                      </a:pPr>
                      <a:r>
                        <a:rPr lang="en-US" sz="1400" dirty="0">
                          <a:solidFill>
                            <a:srgbClr val="FFFFFF"/>
                          </a:solidFill>
                          <a:latin typeface="JetBrains Mono" pitchFamily="34" charset="0"/>
                          <a:ea typeface="JetBrains Mono" pitchFamily="34" charset="-122"/>
                          <a:cs typeface="JetBrains Mono" pitchFamily="34" charset="-120"/>
                        </a:rPr>
                        <a:t>Recipes (.rb)</a:t>
                      </a: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c>
                  <a:txBody>
                    <a:bodyPr/>
                    <a:lstStyle/>
                    <a:p>
                      <a:pPr indent="0" marL="0">
                        <a:buNone/>
                      </a:pPr>
                      <a:r>
                        <a:rPr lang="en-US" sz="1400" dirty="0">
                          <a:solidFill>
                            <a:srgbClr val="FFFFFF"/>
                          </a:solidFill>
                          <a:latin typeface="JetBrains Mono" pitchFamily="34" charset="0"/>
                          <a:ea typeface="JetBrains Mono" pitchFamily="34" charset="-122"/>
                          <a:cs typeface="JetBrains Mono" pitchFamily="34" charset="-120"/>
                        </a:rPr>
                        <a:t>SLS States (.sls)</a:t>
                      </a: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c>
                  <a:txBody>
                    <a:bodyPr/>
                    <a:lstStyle/>
                    <a:p>
                      <a:pPr indent="0" marL="0">
                        <a:buNone/>
                      </a:pP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r>
              <a:tr h="615935">
                <a:tc>
                  <a:txBody>
                    <a:bodyPr/>
                    <a:lstStyle/>
                    <a:p>
                      <a:pPr indent="0" marL="0">
                        <a:buNone/>
                      </a:pPr>
                      <a:r>
                        <a:rPr lang="en-US" sz="1400" dirty="0">
                          <a:solidFill>
                            <a:srgbClr val="FFFFFF"/>
                          </a:solidFill>
                          <a:latin typeface="JetBrains Mono" pitchFamily="34" charset="0"/>
                          <a:ea typeface="JetBrains Mono" pitchFamily="34" charset="-122"/>
                          <a:cs typeface="JetBrains Mono" pitchFamily="34" charset="-120"/>
                        </a:rPr>
                        <a:t>Best For</a:t>
                      </a: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c>
                  <a:txBody>
                    <a:bodyPr/>
                    <a:lstStyle/>
                    <a:p>
                      <a:pPr indent="0" marL="0">
                        <a:buNone/>
                      </a:pPr>
                      <a:r>
                        <a:rPr lang="en-US" sz="1400" dirty="0">
                          <a:solidFill>
                            <a:srgbClr val="FFFFFF"/>
                          </a:solidFill>
                          <a:latin typeface="JetBrains Mono" pitchFamily="34" charset="0"/>
                          <a:ea typeface="JetBrains Mono" pitchFamily="34" charset="-122"/>
                          <a:cs typeface="JetBrains Mono" pitchFamily="34" charset="-120"/>
                        </a:rPr>
                        <a:t>Deep server policies</a:t>
                      </a: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c>
                  <a:txBody>
                    <a:bodyPr/>
                    <a:lstStyle/>
                    <a:p>
                      <a:pPr indent="0" marL="0">
                        <a:buNone/>
                      </a:pPr>
                      <a:r>
                        <a:rPr lang="en-US" sz="1400" dirty="0">
                          <a:solidFill>
                            <a:srgbClr val="FFFFFF"/>
                          </a:solidFill>
                          <a:latin typeface="JetBrains Mono" pitchFamily="34" charset="0"/>
                          <a:ea typeface="JetBrains Mono" pitchFamily="34" charset="-122"/>
                          <a:cs typeface="JetBrains Mono" pitchFamily="34" charset="-120"/>
                        </a:rPr>
                        <a:t>High-speed fleet execution</a:t>
                      </a: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c>
                  <a:txBody>
                    <a:bodyPr/>
                    <a:lstStyle/>
                    <a:p>
                      <a:pPr indent="0" marL="0">
                        <a:buNone/>
                      </a:pPr>
                      <a:endParaRPr lang="en-US" sz="1400" dirty="0">
                        <a:latin typeface="JetBrains Mono" charset="0"/>
                        <a:ea typeface="JetBrains Mono" charset="0"/>
                        <a:cs typeface="JetBrains Mono" charset="0"/>
                      </a:endParaRPr>
                    </a:p>
                  </a:txBody>
                  <a:tcPr marL="101598" marR="101598" marT="63498" marB="63498" anchor="ctr">
                    <a:lnL w="12700" cap="flat" cmpd="sng" algn="ctr">
                      <a:solidFill>
                        <a:srgbClr val="A9BEE6"/>
                      </a:solidFill>
                      <a:prstDash val="solid"/>
                      <a:round/>
                      <a:headEnd type="none" w="med" len="med"/>
                      <a:tailEnd type="none" w="med" len="med"/>
                    </a:lnL>
                    <a:lnR w="12700" cap="flat" cmpd="sng" algn="ctr">
                      <a:solidFill>
                        <a:srgbClr val="A9BEE6"/>
                      </a:solidFill>
                      <a:prstDash val="solid"/>
                      <a:round/>
                      <a:headEnd type="none" w="med" len="med"/>
                      <a:tailEnd type="none" w="med" len="med"/>
                    </a:lnR>
                    <a:lnT w="12700" cap="flat" cmpd="sng" algn="ctr">
                      <a:solidFill>
                        <a:srgbClr val="A9BEE6"/>
                      </a:solidFill>
                      <a:prstDash val="solid"/>
                      <a:round/>
                      <a:headEnd type="none" w="med" len="med"/>
                      <a:tailEnd type="none" w="med" len="med"/>
                    </a:lnT>
                    <a:lnB w="12700" cap="flat" cmpd="sng" algn="ctr">
                      <a:solidFill>
                        <a:srgbClr val="A9BEE6"/>
                      </a:solidFill>
                      <a:prstDash val="solid"/>
                      <a:round/>
                      <a:headEnd type="none" w="med" len="med"/>
                      <a:tailEnd type="none" w="med" len="med"/>
                    </a:lnB>
                  </a:tcPr>
                </a:tc>
              </a:tr>
            </a:tbl>
          </a:graphicData>
        </a:graphic>
      </p:graphicFrame>
      <p:sp>
        <p:nvSpPr>
          <p:cNvPr id="8" name="Shape 5"/>
          <p:cNvSpPr/>
          <p:nvPr/>
        </p:nvSpPr>
        <p:spPr>
          <a:xfrm>
            <a:off x="457189" y="5692477"/>
            <a:ext cx="11277318" cy="1172170"/>
          </a:xfrm>
          <a:prstGeom prst="roundRect">
            <a:avLst>
              <a:gd name="adj" fmla="val 975"/>
            </a:avLst>
          </a:prstGeom>
          <a:solidFill>
            <a:srgbClr val="803800"/>
          </a:solidFill>
          <a:ln/>
        </p:spPr>
        <p:txBody>
          <a:bodyPr/>
          <a:p/>
        </p:txBody>
      </p:sp>
      <p:sp>
        <p:nvSpPr>
          <p:cNvPr id="9" name="Text 6"/>
          <p:cNvSpPr/>
          <p:nvPr/>
        </p:nvSpPr>
        <p:spPr>
          <a:xfrm>
            <a:off x="632702" y="5911850"/>
            <a:ext cx="10926291" cy="733425"/>
          </a:xfrm>
          <a:prstGeom prst="rect">
            <a:avLst/>
          </a:prstGeom>
          <a:noFill/>
          <a:ln/>
        </p:spPr>
        <p:txBody>
          <a:bodyPr wrap="square" lIns="0" tIns="0" rIns="0" bIns="0" rtlCol="0" anchor="t">
            <a:normAutofit/>
          </a:bodyPr>
          <a:lstStyle/>
          <a:p>
            <a:pPr algn="l" indent="0" marL="0">
              <a:lnSpc>
                <a:spcPct val="116000"/>
              </a:lnSpc>
              <a:buNone/>
            </a:pPr>
            <a:r>
              <a:rPr lang="en-US" sz="1400" dirty="0">
                <a:solidFill>
                  <a:srgbClr val="FFFFFF"/>
                </a:solidFill>
                <a:latin typeface="JetBrains Mono" pitchFamily="34" charset="0"/>
                <a:ea typeface="JetBrains Mono" pitchFamily="34" charset="-122"/>
                <a:cs typeface="JetBrains Mono" pitchFamily="34" charset="-120"/>
              </a:rPr>
              <a:t>In SaltStack, configurations are written as YAML SLS states. Comparing both: Chef uses Ruby with a Pull model, ideal for enterprise policy management. SaltStack uses YAML with a Push model and ZeroMQ, ideal for high-speed fleet execution.</a:t>
            </a:r>
            <a:endParaRPr lang="en-US" sz="1400" dirty="0"/>
          </a:p>
        </p:txBody>
      </p:sp>
      <p:sp>
        <p:nvSpPr>
          <p:cNvPr id="10" name="Shape 7"/>
          <p:cNvSpPr/>
          <p:nvPr/>
        </p:nvSpPr>
        <p:spPr>
          <a:xfrm>
            <a:off x="0" y="6400800"/>
            <a:ext cx="12191695" cy="9525"/>
          </a:xfrm>
          <a:prstGeom prst="rect">
            <a:avLst/>
          </a:prstGeom>
          <a:solidFill>
            <a:srgbClr val="FFFFFF">
              <a:alpha val="20000"/>
            </a:srgbClr>
          </a:solidFill>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189" y="594519"/>
            <a:ext cx="7071243" cy="181570"/>
          </a:xfrm>
          <a:prstGeom prst="rect">
            <a:avLst/>
          </a:prstGeom>
          <a:noFill/>
          <a:ln/>
        </p:spPr>
        <p:txBody>
          <a:bodyPr wrap="none" lIns="0" tIns="0" rIns="0" bIns="0" rtlCol="0" anchor="t"/>
          <a:lstStyle/>
          <a:p>
            <a:pPr algn="l" indent="0" marL="0">
              <a:lnSpc>
                <a:spcPct val="108000"/>
              </a:lnSpc>
              <a:buNone/>
            </a:pPr>
            <a:r>
              <a:rPr lang="en-US" sz="1100" spc="88" kern="0" dirty="0">
                <a:solidFill>
                  <a:srgbClr val="A9BEE6"/>
                </a:solidFill>
                <a:latin typeface="JetBrains Mono Medium" pitchFamily="34" charset="0"/>
                <a:ea typeface="JetBrains Mono Medium" pitchFamily="34" charset="-122"/>
                <a:cs typeface="JetBrains Mono Medium" pitchFamily="34" charset="-120"/>
              </a:rPr>
              <a:t>KEY TAKEAWAY</a:t>
            </a:r>
            <a:endParaRPr lang="en-US" sz="1100" dirty="0"/>
          </a:p>
        </p:txBody>
      </p:sp>
      <p:sp>
        <p:nvSpPr>
          <p:cNvPr id="3" name="Text 1"/>
          <p:cNvSpPr/>
          <p:nvPr/>
        </p:nvSpPr>
        <p:spPr>
          <a:xfrm>
            <a:off x="457189" y="953889"/>
            <a:ext cx="6614054" cy="552450"/>
          </a:xfrm>
          <a:prstGeom prst="rect">
            <a:avLst/>
          </a:prstGeom>
          <a:noFill/>
          <a:ln/>
        </p:spPr>
        <p:txBody>
          <a:bodyPr wrap="square" lIns="0" tIns="0" rIns="0" bIns="0" rtlCol="0" anchor="t">
            <a:normAutofit/>
          </a:bodyPr>
          <a:lstStyle/>
          <a:p>
            <a:pPr algn="l" indent="0" marL="0">
              <a:lnSpc>
                <a:spcPct val="121000"/>
              </a:lnSpc>
              <a:buNone/>
            </a:pPr>
            <a:r>
              <a:rPr lang="en-US" sz="1500" dirty="0">
                <a:solidFill>
                  <a:srgbClr val="FFFFFF"/>
                </a:solidFill>
                <a:latin typeface="JetBrains Mono" pitchFamily="34" charset="0"/>
                <a:ea typeface="JetBrains Mono" pitchFamily="34" charset="-122"/>
                <a:cs typeface="JetBrains Mono" pitchFamily="34" charset="-120"/>
              </a:rPr>
              <a:t>Both Chef and SaltStack eliminate manual deployment errors using Infrastructure as Code (IaC).</a:t>
            </a:r>
            <a:endParaRPr lang="en-US" sz="1500" dirty="0"/>
          </a:p>
        </p:txBody>
      </p:sp>
      <p:sp>
        <p:nvSpPr>
          <p:cNvPr id="4" name="Shape 2"/>
          <p:cNvSpPr/>
          <p:nvPr/>
        </p:nvSpPr>
        <p:spPr>
          <a:xfrm>
            <a:off x="457189" y="1733352"/>
            <a:ext cx="307372" cy="244475"/>
          </a:xfrm>
          <a:prstGeom prst="roundRect">
            <a:avLst>
              <a:gd name="adj" fmla="val 17142"/>
            </a:avLst>
          </a:prstGeom>
          <a:solidFill>
            <a:srgbClr val="FFFFFF"/>
          </a:solidFill>
          <a:ln/>
        </p:spPr>
        <p:txBody>
          <a:bodyPr/>
          <a:p/>
        </p:txBody>
      </p:sp>
      <p:sp>
        <p:nvSpPr>
          <p:cNvPr id="5" name="Text 3"/>
          <p:cNvSpPr/>
          <p:nvPr/>
        </p:nvSpPr>
        <p:spPr>
          <a:xfrm>
            <a:off x="527037" y="1785739"/>
            <a:ext cx="777260" cy="139700"/>
          </a:xfrm>
          <a:prstGeom prst="rect">
            <a:avLst/>
          </a:prstGeom>
          <a:noFill/>
          <a:ln/>
        </p:spPr>
        <p:txBody>
          <a:bodyPr wrap="none" lIns="0" tIns="0" rIns="0" bIns="0" rtlCol="0" anchor="t"/>
          <a:lstStyle/>
          <a:p>
            <a:pPr algn="l" indent="0" marL="0">
              <a:lnSpc>
                <a:spcPct val="83000"/>
              </a:lnSpc>
              <a:buNone/>
            </a:pPr>
            <a:r>
              <a:rPr lang="en-US" sz="1100" dirty="0">
                <a:solidFill>
                  <a:srgbClr val="0F3F8E"/>
                </a:solidFill>
                <a:latin typeface="JetBrains Mono SemiBold" pitchFamily="34" charset="0"/>
                <a:ea typeface="JetBrains Mono SemiBold" pitchFamily="34" charset="-122"/>
                <a:cs typeface="JetBrains Mono SemiBold" pitchFamily="34" charset="-120"/>
              </a:rPr>
              <a:t>01</a:t>
            </a:r>
            <a:endParaRPr lang="en-US" sz="1100" dirty="0"/>
          </a:p>
        </p:txBody>
      </p:sp>
      <p:sp>
        <p:nvSpPr>
          <p:cNvPr id="6" name="Text 4"/>
          <p:cNvSpPr/>
          <p:nvPr/>
        </p:nvSpPr>
        <p:spPr>
          <a:xfrm>
            <a:off x="916957" y="1684139"/>
            <a:ext cx="6154286" cy="280591"/>
          </a:xfrm>
          <a:prstGeom prst="rect">
            <a:avLst/>
          </a:prstGeom>
          <a:noFill/>
          <a:ln/>
        </p:spPr>
        <p:txBody>
          <a:bodyPr wrap="none" lIns="0" tIns="0" rIns="0" bIns="0" rtlCol="0" anchor="t"/>
          <a:lstStyle/>
          <a:p>
            <a:pPr algn="l" indent="0" marL="0">
              <a:lnSpc>
                <a:spcPct val="108000"/>
              </a:lnSpc>
              <a:buNone/>
            </a:pPr>
            <a:r>
              <a:rPr lang="en-US" sz="1700" dirty="0">
                <a:solidFill>
                  <a:srgbClr val="FFFFFF"/>
                </a:solidFill>
                <a:latin typeface="JetBrains Mono Medium" pitchFamily="34" charset="0"/>
                <a:ea typeface="JetBrains Mono Medium" pitchFamily="34" charset="-122"/>
                <a:cs typeface="JetBrains Mono Medium" pitchFamily="34" charset="-120"/>
              </a:rPr>
              <a:t>Chef (Ruby)</a:t>
            </a:r>
            <a:endParaRPr lang="en-US" sz="1700" dirty="0"/>
          </a:p>
        </p:txBody>
      </p:sp>
      <p:sp>
        <p:nvSpPr>
          <p:cNvPr id="7" name="Text 5"/>
          <p:cNvSpPr/>
          <p:nvPr/>
        </p:nvSpPr>
        <p:spPr>
          <a:xfrm>
            <a:off x="916957" y="2107605"/>
            <a:ext cx="6154286" cy="552450"/>
          </a:xfrm>
          <a:prstGeom prst="rect">
            <a:avLst/>
          </a:prstGeom>
          <a:noFill/>
          <a:ln/>
        </p:spPr>
        <p:txBody>
          <a:bodyPr wrap="square" lIns="0" tIns="0" rIns="0" bIns="0" rtlCol="0" anchor="t">
            <a:normAutofit/>
          </a:bodyPr>
          <a:lstStyle/>
          <a:p>
            <a:pPr algn="l" indent="0" marL="0">
              <a:lnSpc>
                <a:spcPct val="121000"/>
              </a:lnSpc>
              <a:buNone/>
            </a:pPr>
            <a:r>
              <a:rPr lang="en-US" sz="1500" dirty="0">
                <a:solidFill>
                  <a:srgbClr val="FFFFFF"/>
                </a:solidFill>
                <a:latin typeface="JetBrains Mono" pitchFamily="34" charset="0"/>
                <a:ea typeface="JetBrains Mono" pitchFamily="34" charset="-122"/>
                <a:cs typeface="JetBrains Mono" pitchFamily="34" charset="-120"/>
              </a:rPr>
              <a:t>Ideal for enterprise compliance and policy-driven environments.</a:t>
            </a:r>
            <a:endParaRPr lang="en-US" sz="1500" dirty="0"/>
          </a:p>
        </p:txBody>
      </p:sp>
      <p:sp>
        <p:nvSpPr>
          <p:cNvPr id="8" name="Shape 6"/>
          <p:cNvSpPr/>
          <p:nvPr/>
        </p:nvSpPr>
        <p:spPr>
          <a:xfrm>
            <a:off x="457189" y="3166467"/>
            <a:ext cx="307372" cy="244475"/>
          </a:xfrm>
          <a:prstGeom prst="roundRect">
            <a:avLst>
              <a:gd name="adj" fmla="val 17142"/>
            </a:avLst>
          </a:prstGeom>
          <a:solidFill>
            <a:srgbClr val="FFFFFF"/>
          </a:solidFill>
          <a:ln/>
        </p:spPr>
        <p:txBody>
          <a:bodyPr/>
          <a:p/>
        </p:txBody>
      </p:sp>
      <p:sp>
        <p:nvSpPr>
          <p:cNvPr id="9" name="Text 7"/>
          <p:cNvSpPr/>
          <p:nvPr/>
        </p:nvSpPr>
        <p:spPr>
          <a:xfrm>
            <a:off x="527037" y="3218855"/>
            <a:ext cx="777260" cy="139700"/>
          </a:xfrm>
          <a:prstGeom prst="rect">
            <a:avLst/>
          </a:prstGeom>
          <a:noFill/>
          <a:ln/>
        </p:spPr>
        <p:txBody>
          <a:bodyPr wrap="none" lIns="0" tIns="0" rIns="0" bIns="0" rtlCol="0" anchor="t"/>
          <a:lstStyle/>
          <a:p>
            <a:pPr algn="l" indent="0" marL="0">
              <a:lnSpc>
                <a:spcPct val="83000"/>
              </a:lnSpc>
              <a:buNone/>
            </a:pPr>
            <a:r>
              <a:rPr lang="en-US" sz="1100" dirty="0">
                <a:solidFill>
                  <a:srgbClr val="0F3F8E"/>
                </a:solidFill>
                <a:latin typeface="JetBrains Mono SemiBold" pitchFamily="34" charset="0"/>
                <a:ea typeface="JetBrains Mono SemiBold" pitchFamily="34" charset="-122"/>
                <a:cs typeface="JetBrains Mono SemiBold" pitchFamily="34" charset="-120"/>
              </a:rPr>
              <a:t>02</a:t>
            </a:r>
            <a:endParaRPr lang="en-US" sz="1100" dirty="0"/>
          </a:p>
        </p:txBody>
      </p:sp>
      <p:sp>
        <p:nvSpPr>
          <p:cNvPr id="10" name="Text 8"/>
          <p:cNvSpPr/>
          <p:nvPr/>
        </p:nvSpPr>
        <p:spPr>
          <a:xfrm>
            <a:off x="916957" y="3117255"/>
            <a:ext cx="6154286" cy="280591"/>
          </a:xfrm>
          <a:prstGeom prst="rect">
            <a:avLst/>
          </a:prstGeom>
          <a:noFill/>
          <a:ln/>
        </p:spPr>
        <p:txBody>
          <a:bodyPr wrap="none" lIns="0" tIns="0" rIns="0" bIns="0" rtlCol="0" anchor="t"/>
          <a:lstStyle/>
          <a:p>
            <a:pPr algn="l" indent="0" marL="0">
              <a:lnSpc>
                <a:spcPct val="108000"/>
              </a:lnSpc>
              <a:buNone/>
            </a:pPr>
            <a:r>
              <a:rPr lang="en-US" sz="1700" dirty="0">
                <a:solidFill>
                  <a:srgbClr val="FFFFFF"/>
                </a:solidFill>
                <a:latin typeface="JetBrains Mono Medium" pitchFamily="34" charset="0"/>
                <a:ea typeface="JetBrains Mono Medium" pitchFamily="34" charset="-122"/>
                <a:cs typeface="JetBrains Mono Medium" pitchFamily="34" charset="-120"/>
              </a:rPr>
              <a:t>SaltStack (YAML/Python)</a:t>
            </a:r>
            <a:endParaRPr lang="en-US" sz="1700" dirty="0"/>
          </a:p>
        </p:txBody>
      </p:sp>
      <p:sp>
        <p:nvSpPr>
          <p:cNvPr id="11" name="Text 9"/>
          <p:cNvSpPr/>
          <p:nvPr/>
        </p:nvSpPr>
        <p:spPr>
          <a:xfrm>
            <a:off x="916957" y="3540720"/>
            <a:ext cx="6154286" cy="552450"/>
          </a:xfrm>
          <a:prstGeom prst="rect">
            <a:avLst/>
          </a:prstGeom>
          <a:noFill/>
          <a:ln/>
        </p:spPr>
        <p:txBody>
          <a:bodyPr wrap="square" lIns="0" tIns="0" rIns="0" bIns="0" rtlCol="0" anchor="t">
            <a:normAutofit/>
          </a:bodyPr>
          <a:lstStyle/>
          <a:p>
            <a:pPr algn="l" indent="0" marL="0">
              <a:lnSpc>
                <a:spcPct val="121000"/>
              </a:lnSpc>
              <a:buNone/>
            </a:pPr>
            <a:r>
              <a:rPr lang="en-US" sz="1500" dirty="0">
                <a:solidFill>
                  <a:srgbClr val="FFFFFF"/>
                </a:solidFill>
                <a:latin typeface="JetBrains Mono" pitchFamily="34" charset="0"/>
                <a:ea typeface="JetBrains Mono" pitchFamily="34" charset="-122"/>
                <a:cs typeface="JetBrains Mono" pitchFamily="34" charset="-120"/>
              </a:rPr>
              <a:t>Ideal for high-speed, large-scale cloud infrastructure.</a:t>
            </a:r>
            <a:endParaRPr lang="en-US" sz="1500" dirty="0"/>
          </a:p>
        </p:txBody>
      </p:sp>
      <p:pic>
        <p:nvPicPr>
          <p:cNvPr id="12" name="Image 0" descr="preencoded.png">    </p:cNvPr>
          <p:cNvPicPr>
            <a:picLocks noChangeAspect="1"/>
          </p:cNvPicPr>
          <p:nvPr/>
        </p:nvPicPr>
        <p:blipFill>
          <a:blip r:embed="rId1"/>
          <a:stretch>
            <a:fillRect/>
          </a:stretch>
        </p:blipFill>
        <p:spPr>
          <a:xfrm>
            <a:off x="7833124" y="0"/>
            <a:ext cx="4358571" cy="4687689"/>
          </a:xfrm>
          <a:prstGeom prst="rect">
            <a:avLst/>
          </a:prstGeom>
        </p:spPr>
      </p:pic>
      <p:sp>
        <p:nvSpPr>
          <p:cNvPr id="13" name="Shape 10"/>
          <p:cNvSpPr/>
          <p:nvPr/>
        </p:nvSpPr>
        <p:spPr>
          <a:xfrm>
            <a:off x="457189" y="4196358"/>
            <a:ext cx="6766351" cy="801886"/>
          </a:xfrm>
          <a:prstGeom prst="rect">
            <a:avLst/>
          </a:prstGeom>
          <a:noFill/>
          <a:ln w="6350">
            <a:solidFill>
              <a:srgbClr val="FFFFFF"/>
            </a:solidFill>
            <a:prstDash val="solid"/>
          </a:ln>
        </p:spPr>
        <p:txBody>
          <a:bodyPr/>
          <a:p/>
        </p:txBody>
      </p:sp>
      <p:sp>
        <p:nvSpPr>
          <p:cNvPr id="14" name="Text 11"/>
          <p:cNvSpPr/>
          <p:nvPr/>
        </p:nvSpPr>
        <p:spPr>
          <a:xfrm>
            <a:off x="615935" y="4304308"/>
            <a:ext cx="6607605" cy="181570"/>
          </a:xfrm>
          <a:prstGeom prst="rect">
            <a:avLst/>
          </a:prstGeom>
          <a:noFill/>
          <a:ln/>
        </p:spPr>
        <p:txBody>
          <a:bodyPr wrap="none" lIns="0" tIns="0" rIns="0" bIns="0" rtlCol="0" anchor="t"/>
          <a:lstStyle/>
          <a:p>
            <a:pPr algn="l" indent="0" marL="0">
              <a:lnSpc>
                <a:spcPct val="108000"/>
              </a:lnSpc>
              <a:buNone/>
            </a:pPr>
            <a:r>
              <a:rPr lang="en-US" sz="1100" spc="88" kern="0" dirty="0">
                <a:solidFill>
                  <a:srgbClr val="A9BEE6"/>
                </a:solidFill>
                <a:latin typeface="JetBrains Mono Medium" pitchFamily="34" charset="0"/>
                <a:ea typeface="JetBrains Mono Medium" pitchFamily="34" charset="-122"/>
                <a:cs typeface="JetBrains Mono Medium" pitchFamily="34" charset="-120"/>
              </a:rPr>
              <a:t>PRESENTED BY</a:t>
            </a:r>
            <a:endParaRPr lang="en-US" sz="1100" dirty="0"/>
          </a:p>
        </p:txBody>
      </p:sp>
      <p:sp>
        <p:nvSpPr>
          <p:cNvPr id="15" name="Text 12"/>
          <p:cNvSpPr/>
          <p:nvPr/>
        </p:nvSpPr>
        <p:spPr>
          <a:xfrm>
            <a:off x="615935" y="4600178"/>
            <a:ext cx="6607605" cy="239316"/>
          </a:xfrm>
          <a:prstGeom prst="rect">
            <a:avLst/>
          </a:prstGeom>
          <a:noFill/>
          <a:ln/>
        </p:spPr>
        <p:txBody>
          <a:bodyPr wrap="none" lIns="0" tIns="0" rIns="0" bIns="0" rtlCol="0" anchor="t"/>
          <a:lstStyle/>
          <a:p>
            <a:pPr algn="l" indent="0" marL="0">
              <a:lnSpc>
                <a:spcPct val="121000"/>
              </a:lnSpc>
              <a:buNone/>
            </a:pPr>
            <a:r>
              <a:rPr lang="en-US" sz="1300" dirty="0">
                <a:solidFill>
                  <a:srgbClr val="FFFFFF"/>
                </a:solidFill>
                <a:latin typeface="JetBrains Mono" pitchFamily="34" charset="0"/>
                <a:ea typeface="JetBrains Mono" pitchFamily="34" charset="-122"/>
                <a:cs typeface="JetBrains Mono" pitchFamily="34" charset="-120"/>
              </a:rPr>
              <a:t>Lokesh (24011P0565), Sooraj (24011P0566)</a:t>
            </a:r>
            <a:endParaRPr lang="en-US" sz="1300" dirty="0"/>
          </a:p>
        </p:txBody>
      </p:sp>
      <p:sp>
        <p:nvSpPr>
          <p:cNvPr id="16" name="Shape 13"/>
          <p:cNvSpPr/>
          <p:nvPr/>
        </p:nvSpPr>
        <p:spPr>
          <a:xfrm>
            <a:off x="7223540" y="4196358"/>
            <a:ext cx="4510967" cy="801886"/>
          </a:xfrm>
          <a:prstGeom prst="rect">
            <a:avLst/>
          </a:prstGeom>
          <a:noFill/>
          <a:ln w="6350">
            <a:solidFill>
              <a:srgbClr val="FFFFFF"/>
            </a:solidFill>
            <a:prstDash val="solid"/>
          </a:ln>
        </p:spPr>
        <p:txBody>
          <a:bodyPr/>
          <a:p/>
        </p:txBody>
      </p:sp>
      <p:sp>
        <p:nvSpPr>
          <p:cNvPr id="17" name="Text 14"/>
          <p:cNvSpPr/>
          <p:nvPr/>
        </p:nvSpPr>
        <p:spPr>
          <a:xfrm>
            <a:off x="7382286" y="4304308"/>
            <a:ext cx="4352221" cy="181570"/>
          </a:xfrm>
          <a:prstGeom prst="rect">
            <a:avLst/>
          </a:prstGeom>
          <a:noFill/>
          <a:ln/>
        </p:spPr>
        <p:txBody>
          <a:bodyPr wrap="none" lIns="0" tIns="0" rIns="0" bIns="0" rtlCol="0" anchor="t"/>
          <a:lstStyle/>
          <a:p>
            <a:pPr algn="l" indent="0" marL="0">
              <a:lnSpc>
                <a:spcPct val="108000"/>
              </a:lnSpc>
              <a:buNone/>
            </a:pPr>
            <a:r>
              <a:rPr lang="en-US" sz="1100" spc="88" kern="0" dirty="0">
                <a:solidFill>
                  <a:srgbClr val="A9BEE6"/>
                </a:solidFill>
                <a:latin typeface="JetBrains Mono Medium" pitchFamily="34" charset="0"/>
                <a:ea typeface="JetBrains Mono Medium" pitchFamily="34" charset="-122"/>
                <a:cs typeface="JetBrains Mono Medium" pitchFamily="34" charset="-120"/>
              </a:rPr>
              <a:t>DEPARTMENT</a:t>
            </a:r>
            <a:endParaRPr lang="en-US" sz="1100" dirty="0"/>
          </a:p>
        </p:txBody>
      </p:sp>
      <p:sp>
        <p:nvSpPr>
          <p:cNvPr id="18" name="Text 15"/>
          <p:cNvSpPr/>
          <p:nvPr/>
        </p:nvSpPr>
        <p:spPr>
          <a:xfrm>
            <a:off x="7382286" y="4600178"/>
            <a:ext cx="4352221" cy="239316"/>
          </a:xfrm>
          <a:prstGeom prst="rect">
            <a:avLst/>
          </a:prstGeom>
          <a:noFill/>
          <a:ln/>
        </p:spPr>
        <p:txBody>
          <a:bodyPr wrap="none" lIns="0" tIns="0" rIns="0" bIns="0" rtlCol="0" anchor="t"/>
          <a:lstStyle/>
          <a:p>
            <a:pPr algn="l" indent="0" marL="0">
              <a:lnSpc>
                <a:spcPct val="121000"/>
              </a:lnSpc>
              <a:buNone/>
            </a:pPr>
            <a:r>
              <a:rPr lang="en-US" sz="1300" dirty="0">
                <a:solidFill>
                  <a:srgbClr val="FFFFFF"/>
                </a:solidFill>
                <a:latin typeface="JetBrains Mono" pitchFamily="34" charset="0"/>
                <a:ea typeface="JetBrains Mono" pitchFamily="34" charset="-122"/>
                <a:cs typeface="JetBrains Mono" pitchFamily="34" charset="-120"/>
              </a:rPr>
              <a:t>Computer Science &amp; Engineering</a:t>
            </a:r>
            <a:endParaRPr lang="en-US" sz="1300" dirty="0"/>
          </a:p>
        </p:txBody>
      </p:sp>
      <p:sp>
        <p:nvSpPr>
          <p:cNvPr id="19" name="Shape 16"/>
          <p:cNvSpPr/>
          <p:nvPr/>
        </p:nvSpPr>
        <p:spPr>
          <a:xfrm>
            <a:off x="457189" y="5176044"/>
            <a:ext cx="11277318" cy="770731"/>
          </a:xfrm>
          <a:prstGeom prst="roundRect">
            <a:avLst>
              <a:gd name="adj" fmla="val 1483"/>
            </a:avLst>
          </a:prstGeom>
          <a:solidFill>
            <a:srgbClr val="803800"/>
          </a:solidFill>
          <a:ln/>
        </p:spPr>
        <p:txBody>
          <a:bodyPr/>
          <a:p/>
        </p:txBody>
      </p:sp>
      <p:sp>
        <p:nvSpPr>
          <p:cNvPr id="20" name="Text 17"/>
          <p:cNvSpPr/>
          <p:nvPr/>
        </p:nvSpPr>
        <p:spPr>
          <a:xfrm>
            <a:off x="647684" y="5414169"/>
            <a:ext cx="10896327" cy="294481"/>
          </a:xfrm>
          <a:prstGeom prst="rect">
            <a:avLst/>
          </a:prstGeom>
          <a:noFill/>
          <a:ln/>
        </p:spPr>
        <p:txBody>
          <a:bodyPr wrap="square" lIns="0" tIns="0" rIns="0" bIns="0" rtlCol="0" anchor="t">
            <a:normAutofit/>
          </a:bodyPr>
          <a:lstStyle/>
          <a:p>
            <a:pPr algn="l" indent="0" marL="0">
              <a:lnSpc>
                <a:spcPct val="121000"/>
              </a:lnSpc>
              <a:buNone/>
            </a:pPr>
            <a:r>
              <a:rPr lang="en-US" sz="800" dirty="0">
                <a:solidFill>
                  <a:srgbClr val="FFFFFF"/>
                </a:solidFill>
                <a:latin typeface="JetBrains Mono" pitchFamily="34" charset="0"/>
                <a:ea typeface="JetBrains Mono" pitchFamily="34" charset="-122"/>
                <a:cs typeface="JetBrains Mono" pitchFamily="34" charset="-120"/>
              </a:rPr>
              <a:t>To conclude, Chef and SaltStack are two leading configuration and deployment tools that make modern cloud operations reliable and scalable. Thank you Sir, thank you everyone! Thank you. We are now open for any questions.</a:t>
            </a:r>
            <a:endParaRPr lang="en-US" sz="800" dirty="0"/>
          </a:p>
        </p:txBody>
      </p:sp>
      <p:sp>
        <p:nvSpPr>
          <p:cNvPr id="21" name="Text 18"/>
          <p:cNvSpPr/>
          <p:nvPr/>
        </p:nvSpPr>
        <p:spPr>
          <a:xfrm>
            <a:off x="152396" y="6124575"/>
            <a:ext cx="11886903" cy="276225"/>
          </a:xfrm>
          <a:prstGeom prst="rect">
            <a:avLst/>
          </a:prstGeom>
          <a:noFill/>
          <a:ln/>
        </p:spPr>
        <p:txBody>
          <a:bodyPr wrap="none" lIns="0" tIns="0" rIns="0" bIns="0" rtlCol="0" anchor="t"/>
          <a:lstStyle/>
          <a:p>
            <a:pPr algn="ctr" indent="0" marL="0">
              <a:lnSpc>
                <a:spcPct val="121000"/>
              </a:lnSpc>
              <a:buNone/>
            </a:pPr>
            <a:r>
              <a:rPr lang="en-US" sz="1500" b="1" dirty="0">
                <a:solidFill>
                  <a:srgbClr val="FFFFFF"/>
                </a:solidFill>
                <a:latin typeface="JetBrains Mono Bold" pitchFamily="34" charset="0"/>
                <a:ea typeface="JetBrains Mono Bold" pitchFamily="34" charset="-122"/>
                <a:cs typeface="JetBrains Mono Bold" pitchFamily="34" charset="-120"/>
              </a:rPr>
              <a:t>THANK YOU!</a:t>
            </a:r>
            <a:endParaRPr lang="en-US" sz="1500" dirty="0"/>
          </a:p>
        </p:txBody>
      </p:sp>
      <p:sp>
        <p:nvSpPr>
          <p:cNvPr id="22" name="Shape 19"/>
          <p:cNvSpPr/>
          <p:nvPr/>
        </p:nvSpPr>
        <p:spPr>
          <a:xfrm>
            <a:off x="457189" y="2882305"/>
            <a:ext cx="6614054" cy="12700"/>
          </a:xfrm>
          <a:prstGeom prst="rect">
            <a:avLst/>
          </a:prstGeom>
          <a:solidFill>
            <a:srgbClr val="FFFFFF"/>
          </a:solidFill>
          <a:ln/>
        </p:spPr>
        <p:txBody>
          <a:body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47120" cy="365760"/>
          </a:xfrm>
          <a:prstGeom prst="rect">
            <a:avLst/>
          </a:prstGeom>
          <a:noFill/>
        </p:spPr>
        <p:txBody>
          <a:bodyPr wrap="square" lIns="0" rIns="0" tIns="0" bIns="0" anchor="t">
            <a:spAutoFit/>
          </a:bodyPr>
          <a:lstStyle/>
          <a:p>
            <a:pPr algn="l"/>
            <a:r>
              <a:rPr sz="2300" b="1">
                <a:solidFill>
                  <a:srgbClr val="FFFFFF"/>
                </a:solidFill>
                <a:latin typeface="JetBrains Mono"/>
              </a:rPr>
              <a:t>DEPLOYING FRONTEND, BACKEND &amp; CI/CD</a:t>
            </a:r>
          </a:p>
        </p:txBody>
      </p:sp>
      <p:sp>
        <p:nvSpPr>
          <p:cNvPr id="3" name="Rectangle 2"/>
          <p:cNvSpPr/>
          <p:nvPr/>
        </p:nvSpPr>
        <p:spPr>
          <a:xfrm>
            <a:off x="457200" y="1371600"/>
            <a:ext cx="3520440" cy="3566160"/>
          </a:xfrm>
          <a:prstGeom prst="rect">
            <a:avLst/>
          </a:prstGeom>
          <a:solidFill>
            <a:srgbClr val="153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 y="1645920"/>
            <a:ext cx="548640" cy="548640"/>
          </a:xfrm>
          <a:prstGeom prst="ellipse">
            <a:avLst/>
          </a:prstGeom>
          <a:solidFill>
            <a:srgbClr val="803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548640" cy="548640"/>
          </a:xfrm>
          <a:prstGeom prst="rect">
            <a:avLst/>
          </a:prstGeom>
          <a:noFill/>
        </p:spPr>
        <p:txBody>
          <a:bodyPr wrap="square" lIns="0" rIns="0" tIns="0" bIns="0" anchor="ctr">
            <a:spAutoFit/>
          </a:bodyPr>
          <a:lstStyle/>
          <a:p>
            <a:pPr algn="ctr"/>
            <a:r>
              <a:rPr sz="1400" b="1">
                <a:solidFill>
                  <a:srgbClr val="FFFFFF"/>
                </a:solidFill>
                <a:latin typeface="JetBrains Mono"/>
              </a:rPr>
              <a:t>01</a:t>
            </a:r>
          </a:p>
        </p:txBody>
      </p:sp>
      <p:sp>
        <p:nvSpPr>
          <p:cNvPr id="6" name="TextBox 5"/>
          <p:cNvSpPr txBox="1"/>
          <p:nvPr/>
        </p:nvSpPr>
        <p:spPr>
          <a:xfrm>
            <a:off x="731520" y="2423160"/>
            <a:ext cx="3017520" cy="365760"/>
          </a:xfrm>
          <a:prstGeom prst="rect">
            <a:avLst/>
          </a:prstGeom>
          <a:noFill/>
        </p:spPr>
        <p:txBody>
          <a:bodyPr wrap="square" lIns="0" rIns="0" tIns="0" bIns="0" anchor="t">
            <a:spAutoFit/>
          </a:bodyPr>
          <a:lstStyle/>
          <a:p>
            <a:pPr algn="l"/>
            <a:r>
              <a:rPr sz="2000" b="1">
                <a:solidFill>
                  <a:srgbClr val="FFFFFF"/>
                </a:solidFill>
                <a:latin typeface="JetBrains Mono"/>
              </a:rPr>
              <a:t>FRONTEND</a:t>
            </a:r>
          </a:p>
        </p:txBody>
      </p:sp>
      <p:sp>
        <p:nvSpPr>
          <p:cNvPr id="7" name="TextBox 6"/>
          <p:cNvSpPr txBox="1"/>
          <p:nvPr/>
        </p:nvSpPr>
        <p:spPr>
          <a:xfrm>
            <a:off x="731520" y="2880360"/>
            <a:ext cx="3017520" cy="274320"/>
          </a:xfrm>
          <a:prstGeom prst="rect">
            <a:avLst/>
          </a:prstGeom>
          <a:noFill/>
        </p:spPr>
        <p:txBody>
          <a:bodyPr wrap="square" lIns="0" rIns="0" tIns="0" bIns="0" anchor="t">
            <a:spAutoFit/>
          </a:bodyPr>
          <a:lstStyle/>
          <a:p>
            <a:pPr algn="l"/>
            <a:r>
              <a:rPr sz="1300" b="1">
                <a:solidFill>
                  <a:srgbClr val="A9BEE6"/>
                </a:solidFill>
                <a:latin typeface="JetBrains Mono"/>
              </a:rPr>
              <a:t>React / HTML build</a:t>
            </a:r>
          </a:p>
        </p:txBody>
      </p:sp>
      <p:sp>
        <p:nvSpPr>
          <p:cNvPr id="8" name="TextBox 7"/>
          <p:cNvSpPr txBox="1"/>
          <p:nvPr/>
        </p:nvSpPr>
        <p:spPr>
          <a:xfrm>
            <a:off x="731520" y="3337560"/>
            <a:ext cx="3017520" cy="822960"/>
          </a:xfrm>
          <a:prstGeom prst="rect">
            <a:avLst/>
          </a:prstGeom>
          <a:noFill/>
        </p:spPr>
        <p:txBody>
          <a:bodyPr wrap="square" lIns="0" rIns="0" tIns="0" bIns="0" anchor="t">
            <a:spAutoFit/>
          </a:bodyPr>
          <a:lstStyle/>
          <a:p>
            <a:pPr algn="l"/>
            <a:r>
              <a:rPr sz="1400" b="0">
                <a:solidFill>
                  <a:srgbClr val="FFFFFF"/>
                </a:solidFill>
                <a:latin typeface="JetBrains Mono"/>
              </a:rPr>
              <a:t>Copy build to Nginx, reload service</a:t>
            </a:r>
          </a:p>
        </p:txBody>
      </p:sp>
      <p:sp>
        <p:nvSpPr>
          <p:cNvPr id="9" name="TextBox 8"/>
          <p:cNvSpPr txBox="1"/>
          <p:nvPr/>
        </p:nvSpPr>
        <p:spPr>
          <a:xfrm>
            <a:off x="731520" y="4389120"/>
            <a:ext cx="3017520" cy="365760"/>
          </a:xfrm>
          <a:prstGeom prst="rect">
            <a:avLst/>
          </a:prstGeom>
          <a:noFill/>
        </p:spPr>
        <p:txBody>
          <a:bodyPr wrap="square" lIns="0" rIns="0" tIns="0" bIns="0" anchor="t">
            <a:spAutoFit/>
          </a:bodyPr>
          <a:lstStyle/>
          <a:p>
            <a:pPr algn="l"/>
            <a:r>
              <a:rPr sz="1200" b="1">
                <a:solidFill>
                  <a:srgbClr val="FFD479"/>
                </a:solidFill>
                <a:latin typeface="JetBrains Mono"/>
              </a:rPr>
              <a:t>Chef: Ruby   Salt: YAML</a:t>
            </a:r>
          </a:p>
        </p:txBody>
      </p:sp>
      <p:sp>
        <p:nvSpPr>
          <p:cNvPr id="10" name="Rectangle 9"/>
          <p:cNvSpPr/>
          <p:nvPr/>
        </p:nvSpPr>
        <p:spPr>
          <a:xfrm>
            <a:off x="4251960" y="1371600"/>
            <a:ext cx="3520440" cy="3566160"/>
          </a:xfrm>
          <a:prstGeom prst="rect">
            <a:avLst/>
          </a:prstGeom>
          <a:solidFill>
            <a:srgbClr val="153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26280" y="1645920"/>
            <a:ext cx="548640" cy="548640"/>
          </a:xfrm>
          <a:prstGeom prst="ellipse">
            <a:avLst/>
          </a:prstGeom>
          <a:solidFill>
            <a:srgbClr val="803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645920"/>
            <a:ext cx="548640" cy="548640"/>
          </a:xfrm>
          <a:prstGeom prst="rect">
            <a:avLst/>
          </a:prstGeom>
          <a:noFill/>
        </p:spPr>
        <p:txBody>
          <a:bodyPr wrap="square" lIns="0" rIns="0" tIns="0" bIns="0" anchor="ctr">
            <a:spAutoFit/>
          </a:bodyPr>
          <a:lstStyle/>
          <a:p>
            <a:pPr algn="ctr"/>
            <a:r>
              <a:rPr sz="1400" b="1">
                <a:solidFill>
                  <a:srgbClr val="FFFFFF"/>
                </a:solidFill>
                <a:latin typeface="JetBrains Mono"/>
              </a:rPr>
              <a:t>02</a:t>
            </a:r>
          </a:p>
        </p:txBody>
      </p:sp>
      <p:sp>
        <p:nvSpPr>
          <p:cNvPr id="13" name="TextBox 12"/>
          <p:cNvSpPr txBox="1"/>
          <p:nvPr/>
        </p:nvSpPr>
        <p:spPr>
          <a:xfrm>
            <a:off x="4526280" y="2423160"/>
            <a:ext cx="3017520" cy="365760"/>
          </a:xfrm>
          <a:prstGeom prst="rect">
            <a:avLst/>
          </a:prstGeom>
          <a:noFill/>
        </p:spPr>
        <p:txBody>
          <a:bodyPr wrap="square" lIns="0" rIns="0" tIns="0" bIns="0" anchor="t">
            <a:spAutoFit/>
          </a:bodyPr>
          <a:lstStyle/>
          <a:p>
            <a:pPr algn="l"/>
            <a:r>
              <a:rPr sz="2000" b="1">
                <a:solidFill>
                  <a:srgbClr val="FFFFFF"/>
                </a:solidFill>
                <a:latin typeface="JetBrains Mono"/>
              </a:rPr>
              <a:t>BACKEND</a:t>
            </a:r>
          </a:p>
        </p:txBody>
      </p:sp>
      <p:sp>
        <p:nvSpPr>
          <p:cNvPr id="14" name="TextBox 13"/>
          <p:cNvSpPr txBox="1"/>
          <p:nvPr/>
        </p:nvSpPr>
        <p:spPr>
          <a:xfrm>
            <a:off x="4526280" y="2880360"/>
            <a:ext cx="3017520" cy="274320"/>
          </a:xfrm>
          <a:prstGeom prst="rect">
            <a:avLst/>
          </a:prstGeom>
          <a:noFill/>
        </p:spPr>
        <p:txBody>
          <a:bodyPr wrap="square" lIns="0" rIns="0" tIns="0" bIns="0" anchor="t">
            <a:spAutoFit/>
          </a:bodyPr>
          <a:lstStyle/>
          <a:p>
            <a:pPr algn="l"/>
            <a:r>
              <a:rPr sz="1300" b="1">
                <a:solidFill>
                  <a:srgbClr val="A9BEE6"/>
                </a:solidFill>
                <a:latin typeface="JetBrains Mono"/>
              </a:rPr>
              <a:t>Node / Python API</a:t>
            </a:r>
          </a:p>
        </p:txBody>
      </p:sp>
      <p:sp>
        <p:nvSpPr>
          <p:cNvPr id="15" name="TextBox 14"/>
          <p:cNvSpPr txBox="1"/>
          <p:nvPr/>
        </p:nvSpPr>
        <p:spPr>
          <a:xfrm>
            <a:off x="4526280" y="3337560"/>
            <a:ext cx="3017520" cy="822960"/>
          </a:xfrm>
          <a:prstGeom prst="rect">
            <a:avLst/>
          </a:prstGeom>
          <a:noFill/>
        </p:spPr>
        <p:txBody>
          <a:bodyPr wrap="square" lIns="0" rIns="0" tIns="0" bIns="0" anchor="t">
            <a:spAutoFit/>
          </a:bodyPr>
          <a:lstStyle/>
          <a:p>
            <a:pPr algn="l"/>
            <a:r>
              <a:rPr sz="1400" b="0">
                <a:solidFill>
                  <a:srgbClr val="FFFFFF"/>
                </a:solidFill>
                <a:latin typeface="JetBrains Mono"/>
              </a:rPr>
              <a:t>Install runtime, deploy code, run systemd service</a:t>
            </a:r>
          </a:p>
        </p:txBody>
      </p:sp>
      <p:sp>
        <p:nvSpPr>
          <p:cNvPr id="16" name="TextBox 15"/>
          <p:cNvSpPr txBox="1"/>
          <p:nvPr/>
        </p:nvSpPr>
        <p:spPr>
          <a:xfrm>
            <a:off x="4526280" y="4389120"/>
            <a:ext cx="3017520" cy="365760"/>
          </a:xfrm>
          <a:prstGeom prst="rect">
            <a:avLst/>
          </a:prstGeom>
          <a:noFill/>
        </p:spPr>
        <p:txBody>
          <a:bodyPr wrap="square" lIns="0" rIns="0" tIns="0" bIns="0" anchor="t">
            <a:spAutoFit/>
          </a:bodyPr>
          <a:lstStyle/>
          <a:p>
            <a:pPr algn="l"/>
            <a:r>
              <a:rPr sz="1200" b="1">
                <a:solidFill>
                  <a:srgbClr val="FFD479"/>
                </a:solidFill>
                <a:latin typeface="JetBrains Mono"/>
              </a:rPr>
              <a:t>Chef: Ruby   Salt: YAML + Python</a:t>
            </a:r>
          </a:p>
        </p:txBody>
      </p:sp>
      <p:sp>
        <p:nvSpPr>
          <p:cNvPr id="17" name="Rectangle 16"/>
          <p:cNvSpPr/>
          <p:nvPr/>
        </p:nvSpPr>
        <p:spPr>
          <a:xfrm>
            <a:off x="8046720" y="1371600"/>
            <a:ext cx="3520440" cy="3566160"/>
          </a:xfrm>
          <a:prstGeom prst="rect">
            <a:avLst/>
          </a:prstGeom>
          <a:solidFill>
            <a:srgbClr val="153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21040" y="1645920"/>
            <a:ext cx="548640" cy="548640"/>
          </a:xfrm>
          <a:prstGeom prst="ellipse">
            <a:avLst/>
          </a:prstGeom>
          <a:solidFill>
            <a:srgbClr val="803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1645920"/>
            <a:ext cx="548640" cy="548640"/>
          </a:xfrm>
          <a:prstGeom prst="rect">
            <a:avLst/>
          </a:prstGeom>
          <a:noFill/>
        </p:spPr>
        <p:txBody>
          <a:bodyPr wrap="square" lIns="0" rIns="0" tIns="0" bIns="0" anchor="ctr">
            <a:spAutoFit/>
          </a:bodyPr>
          <a:lstStyle/>
          <a:p>
            <a:pPr algn="ctr"/>
            <a:r>
              <a:rPr sz="1400" b="1">
                <a:solidFill>
                  <a:srgbClr val="FFFFFF"/>
                </a:solidFill>
                <a:latin typeface="JetBrains Mono"/>
              </a:rPr>
              <a:t>03</a:t>
            </a:r>
          </a:p>
        </p:txBody>
      </p:sp>
      <p:sp>
        <p:nvSpPr>
          <p:cNvPr id="20" name="TextBox 19"/>
          <p:cNvSpPr txBox="1"/>
          <p:nvPr/>
        </p:nvSpPr>
        <p:spPr>
          <a:xfrm>
            <a:off x="8321040" y="2423160"/>
            <a:ext cx="3017520" cy="365760"/>
          </a:xfrm>
          <a:prstGeom prst="rect">
            <a:avLst/>
          </a:prstGeom>
          <a:noFill/>
        </p:spPr>
        <p:txBody>
          <a:bodyPr wrap="square" lIns="0" rIns="0" tIns="0" bIns="0" anchor="t">
            <a:spAutoFit/>
          </a:bodyPr>
          <a:lstStyle/>
          <a:p>
            <a:pPr algn="l"/>
            <a:r>
              <a:rPr sz="2000" b="1">
                <a:solidFill>
                  <a:srgbClr val="FFFFFF"/>
                </a:solidFill>
                <a:latin typeface="JetBrains Mono"/>
              </a:rPr>
              <a:t>CI/CD</a:t>
            </a:r>
          </a:p>
        </p:txBody>
      </p:sp>
      <p:sp>
        <p:nvSpPr>
          <p:cNvPr id="21" name="TextBox 20"/>
          <p:cNvSpPr txBox="1"/>
          <p:nvPr/>
        </p:nvSpPr>
        <p:spPr>
          <a:xfrm>
            <a:off x="8321040" y="2880360"/>
            <a:ext cx="3017520" cy="274320"/>
          </a:xfrm>
          <a:prstGeom prst="rect">
            <a:avLst/>
          </a:prstGeom>
          <a:noFill/>
        </p:spPr>
        <p:txBody>
          <a:bodyPr wrap="square" lIns="0" rIns="0" tIns="0" bIns="0" anchor="t">
            <a:spAutoFit/>
          </a:bodyPr>
          <a:lstStyle/>
          <a:p>
            <a:pPr algn="l"/>
            <a:r>
              <a:rPr sz="1300" b="1">
                <a:solidFill>
                  <a:srgbClr val="A9BEE6"/>
                </a:solidFill>
                <a:latin typeface="JetBrains Mono"/>
              </a:rPr>
              <a:t>Git push triggers deploy</a:t>
            </a:r>
          </a:p>
        </p:txBody>
      </p:sp>
      <p:sp>
        <p:nvSpPr>
          <p:cNvPr id="22" name="TextBox 21"/>
          <p:cNvSpPr txBox="1"/>
          <p:nvPr/>
        </p:nvSpPr>
        <p:spPr>
          <a:xfrm>
            <a:off x="8321040" y="3337560"/>
            <a:ext cx="3017520" cy="822960"/>
          </a:xfrm>
          <a:prstGeom prst="rect">
            <a:avLst/>
          </a:prstGeom>
          <a:noFill/>
        </p:spPr>
        <p:txBody>
          <a:bodyPr wrap="square" lIns="0" rIns="0" tIns="0" bIns="0" anchor="t">
            <a:spAutoFit/>
          </a:bodyPr>
          <a:lstStyle/>
          <a:p>
            <a:pPr algn="l"/>
            <a:r>
              <a:rPr sz="1400" b="0">
                <a:solidFill>
                  <a:srgbClr val="FFFFFF"/>
                </a:solidFill>
                <a:latin typeface="JetBrains Mono"/>
              </a:rPr>
              <a:t>Pipeline calls chef-client or salt '*' state.apply</a:t>
            </a:r>
          </a:p>
        </p:txBody>
      </p:sp>
      <p:sp>
        <p:nvSpPr>
          <p:cNvPr id="23" name="TextBox 22"/>
          <p:cNvSpPr txBox="1"/>
          <p:nvPr/>
        </p:nvSpPr>
        <p:spPr>
          <a:xfrm>
            <a:off x="8321040" y="4389120"/>
            <a:ext cx="3017520" cy="365760"/>
          </a:xfrm>
          <a:prstGeom prst="rect">
            <a:avLst/>
          </a:prstGeom>
          <a:noFill/>
        </p:spPr>
        <p:txBody>
          <a:bodyPr wrap="square" lIns="0" rIns="0" tIns="0" bIns="0" anchor="t">
            <a:spAutoFit/>
          </a:bodyPr>
          <a:lstStyle/>
          <a:p>
            <a:pPr algn="l"/>
            <a:r>
              <a:rPr sz="1200" b="1">
                <a:solidFill>
                  <a:srgbClr val="FFD479"/>
                </a:solidFill>
                <a:latin typeface="JetBrains Mono"/>
              </a:rPr>
              <a:t>Pipeline: YAML</a:t>
            </a:r>
          </a:p>
        </p:txBody>
      </p:sp>
      <p:sp>
        <p:nvSpPr>
          <p:cNvPr id="24" name="Rectangle 23"/>
          <p:cNvSpPr/>
          <p:nvPr/>
        </p:nvSpPr>
        <p:spPr>
          <a:xfrm>
            <a:off x="457200" y="5257800"/>
            <a:ext cx="11247120" cy="457200"/>
          </a:xfrm>
          <a:prstGeom prst="rect">
            <a:avLst/>
          </a:prstGeom>
          <a:solidFill>
            <a:srgbClr val="803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257800"/>
            <a:ext cx="10881360" cy="457200"/>
          </a:xfrm>
          <a:prstGeom prst="rect">
            <a:avLst/>
          </a:prstGeom>
          <a:noFill/>
        </p:spPr>
        <p:txBody>
          <a:bodyPr wrap="square" lIns="0" rIns="0" tIns="0" bIns="0" anchor="ctr">
            <a:spAutoFit/>
          </a:bodyPr>
          <a:lstStyle/>
          <a:p>
            <a:pPr algn="l"/>
            <a:r>
              <a:rPr sz="1300" b="0">
                <a:solidFill>
                  <a:srgbClr val="FFFFFF"/>
                </a:solidFill>
                <a:latin typeface="JetBrains Mono"/>
              </a:rPr>
              <a:t>Flow: Git push  &gt;  CI pipeline  &gt;  Chef / Salt  &gt;  Servers  &gt;  Live website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47120" cy="365760"/>
          </a:xfrm>
          <a:prstGeom prst="rect">
            <a:avLst/>
          </a:prstGeom>
          <a:noFill/>
        </p:spPr>
        <p:txBody>
          <a:bodyPr wrap="square" lIns="0" rIns="0" tIns="0" bIns="0" anchor="t">
            <a:spAutoFit/>
          </a:bodyPr>
          <a:lstStyle/>
          <a:p>
            <a:pPr algn="l"/>
            <a:r>
              <a:rPr sz="2300" b="1">
                <a:solidFill>
                  <a:srgbClr val="FFFFFF"/>
                </a:solidFill>
                <a:latin typeface="JetBrains Mono"/>
              </a:rPr>
              <a:t>CODE: RUBY, YAML &amp; PYTHON</a:t>
            </a:r>
          </a:p>
        </p:txBody>
      </p:sp>
      <p:sp>
        <p:nvSpPr>
          <p:cNvPr id="3" name="Rectangle 2"/>
          <p:cNvSpPr/>
          <p:nvPr/>
        </p:nvSpPr>
        <p:spPr>
          <a:xfrm>
            <a:off x="457200" y="1097280"/>
            <a:ext cx="3657600" cy="2377440"/>
          </a:xfrm>
          <a:prstGeom prst="rect">
            <a:avLst/>
          </a:prstGeom>
          <a:solidFill>
            <a:srgbClr val="0B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39"/>
            <a:ext cx="3291840" cy="228600"/>
          </a:xfrm>
          <a:prstGeom prst="rect">
            <a:avLst/>
          </a:prstGeom>
          <a:noFill/>
        </p:spPr>
        <p:txBody>
          <a:bodyPr wrap="square" lIns="0" rIns="0" tIns="0" bIns="0" anchor="t">
            <a:spAutoFit/>
          </a:bodyPr>
          <a:lstStyle/>
          <a:p>
            <a:pPr algn="l"/>
            <a:r>
              <a:rPr sz="1000" b="1">
                <a:solidFill>
                  <a:srgbClr val="A9BEE6"/>
                </a:solidFill>
                <a:latin typeface="JetBrains Mono"/>
              </a:rPr>
              <a:t>RUBY - CHEF (backend.rb)</a:t>
            </a:r>
          </a:p>
        </p:txBody>
      </p:sp>
      <p:sp>
        <p:nvSpPr>
          <p:cNvPr id="5" name="TextBox 4"/>
          <p:cNvSpPr txBox="1"/>
          <p:nvPr/>
        </p:nvSpPr>
        <p:spPr>
          <a:xfrm>
            <a:off x="640080" y="1554480"/>
            <a:ext cx="3291840" cy="1828800"/>
          </a:xfrm>
          <a:prstGeom prst="rect">
            <a:avLst/>
          </a:prstGeom>
          <a:noFill/>
        </p:spPr>
        <p:txBody>
          <a:bodyPr wrap="square" lIns="0" rIns="0" tIns="0" bIns="0" anchor="t">
            <a:spAutoFit/>
          </a:bodyPr>
          <a:lstStyle/>
          <a:p>
            <a:pPr algn="l"/>
            <a:r>
              <a:rPr sz="1100" b="0">
                <a:solidFill>
                  <a:srgbClr val="7EE787"/>
                </a:solidFill>
                <a:latin typeface="Consolas"/>
              </a:rPr>
              <a:t>package 'nodejs'</a:t>
            </a:r>
          </a:p>
          <a:p>
            <a:pPr algn="l"/>
            <a:r>
              <a:rPr sz="1100" b="0">
                <a:solidFill>
                  <a:srgbClr val="7EE787"/>
                </a:solidFill>
                <a:latin typeface="Consolas"/>
              </a:rPr>
              <a:t>git '/srv/api' do</a:t>
            </a:r>
          </a:p>
          <a:p>
            <a:pPr algn="l"/>
            <a:r>
              <a:rPr sz="1100" b="0">
                <a:solidFill>
                  <a:srgbClr val="A9BEE6"/>
                </a:solidFill>
                <a:latin typeface="Consolas"/>
              </a:rPr>
              <a:t>  repository 'github.com/app'</a:t>
            </a:r>
          </a:p>
          <a:p>
            <a:pPr algn="l"/>
            <a:r>
              <a:rPr sz="1100" b="0">
                <a:solidFill>
                  <a:srgbClr val="7EE787"/>
                </a:solidFill>
                <a:latin typeface="Consolas"/>
              </a:rPr>
              <a:t>end</a:t>
            </a:r>
          </a:p>
          <a:p>
            <a:pPr algn="l"/>
            <a:r>
              <a:rPr sz="1100" b="0">
                <a:solidFill>
                  <a:srgbClr val="7EE787"/>
                </a:solidFill>
                <a:latin typeface="Consolas"/>
              </a:rPr>
              <a:t>service 'api' do</a:t>
            </a:r>
          </a:p>
          <a:p>
            <a:pPr algn="l"/>
            <a:r>
              <a:rPr sz="1100" b="0">
                <a:solidFill>
                  <a:srgbClr val="A9BEE6"/>
                </a:solidFill>
                <a:latin typeface="Consolas"/>
              </a:rPr>
              <a:t>  action [:enable,:start]</a:t>
            </a:r>
          </a:p>
          <a:p>
            <a:pPr algn="l"/>
            <a:r>
              <a:rPr sz="1100" b="0">
                <a:solidFill>
                  <a:srgbClr val="7EE787"/>
                </a:solidFill>
                <a:latin typeface="Consolas"/>
              </a:rPr>
              <a:t>end</a:t>
            </a:r>
          </a:p>
        </p:txBody>
      </p:sp>
      <p:sp>
        <p:nvSpPr>
          <p:cNvPr id="6" name="Rectangle 5"/>
          <p:cNvSpPr/>
          <p:nvPr/>
        </p:nvSpPr>
        <p:spPr>
          <a:xfrm>
            <a:off x="4270248" y="1097280"/>
            <a:ext cx="3657600" cy="2377440"/>
          </a:xfrm>
          <a:prstGeom prst="rect">
            <a:avLst/>
          </a:prstGeom>
          <a:solidFill>
            <a:srgbClr val="0B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53128" y="1234439"/>
            <a:ext cx="3291840" cy="228600"/>
          </a:xfrm>
          <a:prstGeom prst="rect">
            <a:avLst/>
          </a:prstGeom>
          <a:noFill/>
        </p:spPr>
        <p:txBody>
          <a:bodyPr wrap="square" lIns="0" rIns="0" tIns="0" bIns="0" anchor="t">
            <a:spAutoFit/>
          </a:bodyPr>
          <a:lstStyle/>
          <a:p>
            <a:pPr algn="l"/>
            <a:r>
              <a:rPr sz="1000" b="1">
                <a:solidFill>
                  <a:srgbClr val="A9BEE6"/>
                </a:solidFill>
                <a:latin typeface="JetBrains Mono"/>
              </a:rPr>
              <a:t>YAML - SALT (frontend.sls)</a:t>
            </a:r>
          </a:p>
        </p:txBody>
      </p:sp>
      <p:sp>
        <p:nvSpPr>
          <p:cNvPr id="8" name="TextBox 7"/>
          <p:cNvSpPr txBox="1"/>
          <p:nvPr/>
        </p:nvSpPr>
        <p:spPr>
          <a:xfrm>
            <a:off x="4453128" y="1554480"/>
            <a:ext cx="3291840" cy="1828800"/>
          </a:xfrm>
          <a:prstGeom prst="rect">
            <a:avLst/>
          </a:prstGeom>
          <a:noFill/>
        </p:spPr>
        <p:txBody>
          <a:bodyPr wrap="square" lIns="0" rIns="0" tIns="0" bIns="0" anchor="t">
            <a:spAutoFit/>
          </a:bodyPr>
          <a:lstStyle/>
          <a:p>
            <a:pPr algn="l"/>
            <a:r>
              <a:rPr sz="1100" b="0">
                <a:solidFill>
                  <a:srgbClr val="FFD479"/>
                </a:solidFill>
                <a:latin typeface="Consolas"/>
              </a:rPr>
              <a:t>deploy_frontend:</a:t>
            </a:r>
          </a:p>
          <a:p>
            <a:pPr algn="l"/>
            <a:r>
              <a:rPr sz="1100" b="0">
                <a:solidFill>
                  <a:srgbClr val="FFD479"/>
                </a:solidFill>
                <a:latin typeface="Consolas"/>
              </a:rPr>
              <a:t>  file.recurse:</a:t>
            </a:r>
          </a:p>
          <a:p>
            <a:pPr algn="l"/>
            <a:r>
              <a:rPr sz="1100" b="0">
                <a:solidFill>
                  <a:srgbClr val="A9BEE6"/>
                </a:solidFill>
                <a:latin typeface="Consolas"/>
              </a:rPr>
              <a:t>    - name: /var/www/html</a:t>
            </a:r>
          </a:p>
          <a:p>
            <a:pPr algn="l"/>
            <a:r>
              <a:rPr sz="1100" b="0">
                <a:solidFill>
                  <a:srgbClr val="A9BEE6"/>
                </a:solidFill>
                <a:latin typeface="Consolas"/>
              </a:rPr>
              <a:t>    - source: salt://dist</a:t>
            </a:r>
          </a:p>
          <a:p>
            <a:pPr algn="l"/>
            <a:r>
              <a:rPr sz="1100" b="0">
                <a:solidFill>
                  <a:srgbClr val="FFD479"/>
                </a:solidFill>
                <a:latin typeface="Consolas"/>
              </a:rPr>
              <a:t>reload_nginx:</a:t>
            </a:r>
          </a:p>
          <a:p>
            <a:pPr algn="l"/>
            <a:r>
              <a:rPr sz="1100" b="0">
                <a:solidFill>
                  <a:srgbClr val="FFD479"/>
                </a:solidFill>
                <a:latin typeface="Consolas"/>
              </a:rPr>
              <a:t>  service.running:</a:t>
            </a:r>
          </a:p>
          <a:p>
            <a:pPr algn="l"/>
            <a:r>
              <a:rPr sz="1100" b="0">
                <a:solidFill>
                  <a:srgbClr val="A9BEE6"/>
                </a:solidFill>
                <a:latin typeface="Consolas"/>
              </a:rPr>
              <a:t>    - name: nginx</a:t>
            </a:r>
          </a:p>
        </p:txBody>
      </p:sp>
      <p:sp>
        <p:nvSpPr>
          <p:cNvPr id="9" name="Rectangle 8"/>
          <p:cNvSpPr/>
          <p:nvPr/>
        </p:nvSpPr>
        <p:spPr>
          <a:xfrm>
            <a:off x="8083296" y="1097280"/>
            <a:ext cx="3657600" cy="2377440"/>
          </a:xfrm>
          <a:prstGeom prst="rect">
            <a:avLst/>
          </a:prstGeom>
          <a:solidFill>
            <a:srgbClr val="0B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66175" y="1234439"/>
            <a:ext cx="3291840" cy="228600"/>
          </a:xfrm>
          <a:prstGeom prst="rect">
            <a:avLst/>
          </a:prstGeom>
          <a:noFill/>
        </p:spPr>
        <p:txBody>
          <a:bodyPr wrap="square" lIns="0" rIns="0" tIns="0" bIns="0" anchor="t">
            <a:spAutoFit/>
          </a:bodyPr>
          <a:lstStyle/>
          <a:p>
            <a:pPr algn="l"/>
            <a:r>
              <a:rPr sz="1000" b="1">
                <a:solidFill>
                  <a:srgbClr val="A9BEE6"/>
                </a:solidFill>
                <a:latin typeface="JetBrains Mono"/>
              </a:rPr>
              <a:t>PYTHON - SALT MODULE</a:t>
            </a:r>
          </a:p>
        </p:txBody>
      </p:sp>
      <p:sp>
        <p:nvSpPr>
          <p:cNvPr id="11" name="TextBox 10"/>
          <p:cNvSpPr txBox="1"/>
          <p:nvPr/>
        </p:nvSpPr>
        <p:spPr>
          <a:xfrm>
            <a:off x="8266175" y="1554480"/>
            <a:ext cx="3291840" cy="1828800"/>
          </a:xfrm>
          <a:prstGeom prst="rect">
            <a:avLst/>
          </a:prstGeom>
          <a:noFill/>
        </p:spPr>
        <p:txBody>
          <a:bodyPr wrap="square" lIns="0" rIns="0" tIns="0" bIns="0" anchor="t">
            <a:spAutoFit/>
          </a:bodyPr>
          <a:lstStyle/>
          <a:p>
            <a:pPr algn="l"/>
            <a:r>
              <a:rPr sz="1100" b="0">
                <a:solidFill>
                  <a:srgbClr val="FF9BC8"/>
                </a:solidFill>
                <a:latin typeface="Consolas"/>
              </a:rPr>
              <a:t>def deploy(app):</a:t>
            </a:r>
          </a:p>
          <a:p>
            <a:pPr algn="l"/>
            <a:r>
              <a:rPr sz="1100" b="0">
                <a:solidFill>
                  <a:srgbClr val="A9BEE6"/>
                </a:solidFill>
                <a:latin typeface="Consolas"/>
              </a:rPr>
              <a:t>  __salt__['git.pull'](app)</a:t>
            </a:r>
          </a:p>
          <a:p>
            <a:pPr algn="l"/>
            <a:r>
              <a:rPr sz="1100" b="0">
                <a:solidFill>
                  <a:srgbClr val="A9BEE6"/>
                </a:solidFill>
                <a:latin typeface="Consolas"/>
              </a:rPr>
              <a:t>  __salt__['service.restart'](</a:t>
            </a:r>
          </a:p>
          <a:p>
            <a:pPr algn="l"/>
            <a:r>
              <a:rPr sz="1100" b="0">
                <a:solidFill>
                  <a:srgbClr val="A9BEE6"/>
                </a:solidFill>
                <a:latin typeface="Consolas"/>
              </a:rPr>
              <a:t>    'api')</a:t>
            </a:r>
          </a:p>
          <a:p>
            <a:pPr algn="l"/>
            <a:r>
              <a:rPr sz="1100" b="0">
                <a:solidFill>
                  <a:srgbClr val="FF9BC8"/>
                </a:solidFill>
                <a:latin typeface="Consolas"/>
              </a:rPr>
              <a:t>  return 'deployed'</a:t>
            </a:r>
          </a:p>
        </p:txBody>
      </p:sp>
      <p:sp>
        <p:nvSpPr>
          <p:cNvPr id="12" name="Rectangle 11"/>
          <p:cNvSpPr/>
          <p:nvPr/>
        </p:nvSpPr>
        <p:spPr>
          <a:xfrm>
            <a:off x="457200" y="3703320"/>
            <a:ext cx="11283696" cy="2103120"/>
          </a:xfrm>
          <a:prstGeom prst="rect">
            <a:avLst/>
          </a:prstGeom>
          <a:solidFill>
            <a:srgbClr val="0B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840480"/>
            <a:ext cx="10917936" cy="228600"/>
          </a:xfrm>
          <a:prstGeom prst="rect">
            <a:avLst/>
          </a:prstGeom>
          <a:noFill/>
        </p:spPr>
        <p:txBody>
          <a:bodyPr wrap="square" lIns="0" rIns="0" tIns="0" bIns="0" anchor="t">
            <a:spAutoFit/>
          </a:bodyPr>
          <a:lstStyle/>
          <a:p>
            <a:pPr algn="l"/>
            <a:r>
              <a:rPr sz="1000" b="1">
                <a:solidFill>
                  <a:srgbClr val="A9BEE6"/>
                </a:solidFill>
                <a:latin typeface="JetBrains Mono"/>
              </a:rPr>
              <a:t>YAML - CI/CD PIPELINE (.github/workflows/deploy.yml)</a:t>
            </a:r>
          </a:p>
        </p:txBody>
      </p:sp>
      <p:sp>
        <p:nvSpPr>
          <p:cNvPr id="14" name="TextBox 13"/>
          <p:cNvSpPr txBox="1"/>
          <p:nvPr/>
        </p:nvSpPr>
        <p:spPr>
          <a:xfrm>
            <a:off x="640080" y="4160520"/>
            <a:ext cx="10917936" cy="1554479"/>
          </a:xfrm>
          <a:prstGeom prst="rect">
            <a:avLst/>
          </a:prstGeom>
          <a:noFill/>
        </p:spPr>
        <p:txBody>
          <a:bodyPr wrap="square" lIns="0" rIns="0" tIns="0" bIns="0" anchor="t">
            <a:spAutoFit/>
          </a:bodyPr>
          <a:lstStyle/>
          <a:p>
            <a:pPr algn="l"/>
            <a:r>
              <a:rPr sz="1200" b="0">
                <a:solidFill>
                  <a:srgbClr val="FFD479"/>
                </a:solidFill>
                <a:latin typeface="Consolas"/>
              </a:rPr>
              <a:t>on: { push: { branches: [main] } }</a:t>
            </a:r>
          </a:p>
          <a:p>
            <a:pPr algn="l"/>
            <a:r>
              <a:rPr sz="1200" b="0">
                <a:solidFill>
                  <a:srgbClr val="FFD479"/>
                </a:solidFill>
                <a:latin typeface="Consolas"/>
              </a:rPr>
              <a:t>jobs:</a:t>
            </a:r>
          </a:p>
          <a:p>
            <a:pPr algn="l"/>
            <a:r>
              <a:rPr sz="1200" b="0">
                <a:solidFill>
                  <a:srgbClr val="FFD479"/>
                </a:solidFill>
                <a:latin typeface="Consolas"/>
              </a:rPr>
              <a:t>  deploy:</a:t>
            </a:r>
          </a:p>
          <a:p>
            <a:pPr algn="l"/>
            <a:r>
              <a:rPr sz="1200" b="0">
                <a:solidFill>
                  <a:srgbClr val="A9BEE6"/>
                </a:solidFill>
                <a:latin typeface="Consolas"/>
              </a:rPr>
              <a:t>    steps:</a:t>
            </a:r>
          </a:p>
          <a:p>
            <a:pPr algn="l"/>
            <a:r>
              <a:rPr sz="1200" b="0">
                <a:solidFill>
                  <a:srgbClr val="A9BEE6"/>
                </a:solidFill>
                <a:latin typeface="Consolas"/>
              </a:rPr>
              <a:t>      - run: npm run build</a:t>
            </a:r>
          </a:p>
          <a:p>
            <a:pPr algn="l"/>
            <a:r>
              <a:rPr sz="1200" b="0">
                <a:solidFill>
                  <a:srgbClr val="7EE787"/>
                </a:solidFill>
                <a:latin typeface="Consolas"/>
              </a:rPr>
              <a:t>      - run: salt '*' state.apply frontend   # or: chef-client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47120" cy="365760"/>
          </a:xfrm>
          <a:prstGeom prst="rect">
            <a:avLst/>
          </a:prstGeom>
          <a:noFill/>
        </p:spPr>
        <p:txBody>
          <a:bodyPr wrap="square" lIns="0" rIns="0" tIns="0" bIns="0" anchor="t">
            <a:spAutoFit/>
          </a:bodyPr>
          <a:lstStyle/>
          <a:p>
            <a:pPr algn="l"/>
            <a:r>
              <a:rPr sz="2300" b="1">
                <a:solidFill>
                  <a:srgbClr val="FFFFFF"/>
                </a:solidFill>
                <a:latin typeface="JetBrains Mono"/>
              </a:rPr>
              <a:t>LIVE RESULT: WEBSITE DEPLOYED</a:t>
            </a:r>
          </a:p>
        </p:txBody>
      </p:sp>
      <p:sp>
        <p:nvSpPr>
          <p:cNvPr id="3" name="Rectangle 2"/>
          <p:cNvSpPr/>
          <p:nvPr/>
        </p:nvSpPr>
        <p:spPr>
          <a:xfrm>
            <a:off x="457200" y="1097280"/>
            <a:ext cx="7498079" cy="4480560"/>
          </a:xfrm>
          <a:prstGeom prst="rect">
            <a:avLst/>
          </a:prstGeom>
          <a:solidFill>
            <a:srgbClr val="0B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097280"/>
            <a:ext cx="7498079" cy="411480"/>
          </a:xfrm>
          <a:prstGeom prst="rect">
            <a:avLst/>
          </a:prstGeom>
          <a:solidFill>
            <a:srgbClr val="153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1234440"/>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96112" y="1234440"/>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52144" y="1234440"/>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737360" y="1188720"/>
            <a:ext cx="4937760" cy="237744"/>
          </a:xfrm>
          <a:prstGeom prst="roundRect">
            <a:avLst/>
          </a:prstGeom>
          <a:solidFill>
            <a:srgbClr val="0B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37360" y="1188720"/>
            <a:ext cx="4937760" cy="237744"/>
          </a:xfrm>
          <a:prstGeom prst="rect">
            <a:avLst/>
          </a:prstGeom>
          <a:noFill/>
        </p:spPr>
        <p:txBody>
          <a:bodyPr wrap="square" lIns="0" rIns="0" tIns="0" bIns="0" anchor="ctr">
            <a:spAutoFit/>
          </a:bodyPr>
          <a:lstStyle/>
          <a:p>
            <a:pPr algn="ctr"/>
            <a:r>
              <a:rPr sz="1100" b="0">
                <a:solidFill>
                  <a:srgbClr val="A9BEE6"/>
                </a:solidFill>
                <a:latin typeface="JetBrains Mono"/>
              </a:rPr>
              <a:t>https://deploy-demo.vercel.app</a:t>
            </a:r>
          </a:p>
        </p:txBody>
      </p:sp>
      <p:sp>
        <p:nvSpPr>
          <p:cNvPr id="10" name="TextBox 9"/>
          <p:cNvSpPr txBox="1"/>
          <p:nvPr/>
        </p:nvSpPr>
        <p:spPr>
          <a:xfrm>
            <a:off x="822960" y="2286000"/>
            <a:ext cx="6766560" cy="731520"/>
          </a:xfrm>
          <a:prstGeom prst="rect">
            <a:avLst/>
          </a:prstGeom>
          <a:noFill/>
        </p:spPr>
        <p:txBody>
          <a:bodyPr wrap="square" lIns="0" rIns="0" tIns="0" bIns="0" anchor="t">
            <a:spAutoFit/>
          </a:bodyPr>
          <a:lstStyle/>
          <a:p>
            <a:pPr algn="ctr"/>
            <a:r>
              <a:rPr sz="3600" b="1">
                <a:solidFill>
                  <a:srgbClr val="FFFFFF"/>
                </a:solidFill>
                <a:latin typeface="JetBrains Mono"/>
              </a:rPr>
              <a:t>Deployed via Chef!</a:t>
            </a:r>
          </a:p>
        </p:txBody>
      </p:sp>
      <p:sp>
        <p:nvSpPr>
          <p:cNvPr id="11" name="TextBox 10"/>
          <p:cNvSpPr txBox="1"/>
          <p:nvPr/>
        </p:nvSpPr>
        <p:spPr>
          <a:xfrm>
            <a:off x="822960" y="3200400"/>
            <a:ext cx="6766560" cy="365760"/>
          </a:xfrm>
          <a:prstGeom prst="rect">
            <a:avLst/>
          </a:prstGeom>
          <a:noFill/>
        </p:spPr>
        <p:txBody>
          <a:bodyPr wrap="square" lIns="0" rIns="0" tIns="0" bIns="0" anchor="t">
            <a:spAutoFit/>
          </a:bodyPr>
          <a:lstStyle/>
          <a:p>
            <a:pPr algn="ctr"/>
            <a:r>
              <a:rPr sz="2200" b="0">
                <a:solidFill>
                  <a:srgbClr val="7EE787"/>
                </a:solidFill>
                <a:latin typeface="JetBrains Mono"/>
              </a:rPr>
              <a:t>Deployed via SaltStack!</a:t>
            </a:r>
          </a:p>
        </p:txBody>
      </p:sp>
      <p:sp>
        <p:nvSpPr>
          <p:cNvPr id="12" name="TextBox 11"/>
          <p:cNvSpPr txBox="1"/>
          <p:nvPr/>
        </p:nvSpPr>
        <p:spPr>
          <a:xfrm>
            <a:off x="822960" y="3931920"/>
            <a:ext cx="6766560" cy="365760"/>
          </a:xfrm>
          <a:prstGeom prst="rect">
            <a:avLst/>
          </a:prstGeom>
          <a:noFill/>
        </p:spPr>
        <p:txBody>
          <a:bodyPr wrap="square" lIns="0" rIns="0" tIns="0" bIns="0" anchor="t">
            <a:spAutoFit/>
          </a:bodyPr>
          <a:lstStyle/>
          <a:p>
            <a:pPr algn="ctr"/>
            <a:r>
              <a:rPr sz="1300" b="0">
                <a:solidFill>
                  <a:srgbClr val="A9BEE6"/>
                </a:solidFill>
                <a:latin typeface="JetBrains Mono"/>
              </a:rPr>
              <a:t>Nginx running  |  Automated  |  Zero manual steps</a:t>
            </a:r>
          </a:p>
        </p:txBody>
      </p:sp>
      <p:sp>
        <p:nvSpPr>
          <p:cNvPr id="13" name="Rectangle 12"/>
          <p:cNvSpPr/>
          <p:nvPr/>
        </p:nvSpPr>
        <p:spPr>
          <a:xfrm>
            <a:off x="8229600" y="1097280"/>
            <a:ext cx="3511296" cy="4480560"/>
          </a:xfrm>
          <a:prstGeom prst="rect">
            <a:avLst/>
          </a:prstGeom>
          <a:solidFill>
            <a:srgbClr val="153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1325880"/>
            <a:ext cx="3017520" cy="274320"/>
          </a:xfrm>
          <a:prstGeom prst="rect">
            <a:avLst/>
          </a:prstGeom>
          <a:noFill/>
        </p:spPr>
        <p:txBody>
          <a:bodyPr wrap="square" lIns="0" rIns="0" tIns="0" bIns="0" anchor="t">
            <a:spAutoFit/>
          </a:bodyPr>
          <a:lstStyle/>
          <a:p>
            <a:pPr algn="l"/>
            <a:r>
              <a:rPr sz="1100" b="1">
                <a:solidFill>
                  <a:srgbClr val="A9BEE6"/>
                </a:solidFill>
                <a:latin typeface="JetBrains Mono"/>
              </a:rPr>
              <a:t>DEPLOYMENT</a:t>
            </a:r>
          </a:p>
        </p:txBody>
      </p:sp>
      <p:sp>
        <p:nvSpPr>
          <p:cNvPr id="15" name="Oval 14"/>
          <p:cNvSpPr/>
          <p:nvPr/>
        </p:nvSpPr>
        <p:spPr>
          <a:xfrm>
            <a:off x="8503920" y="1691640"/>
            <a:ext cx="164592" cy="164592"/>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0" y="1645920"/>
            <a:ext cx="2743200" cy="274320"/>
          </a:xfrm>
          <a:prstGeom prst="rect">
            <a:avLst/>
          </a:prstGeom>
          <a:noFill/>
        </p:spPr>
        <p:txBody>
          <a:bodyPr wrap="square" lIns="0" rIns="0" tIns="0" bIns="0" anchor="t">
            <a:spAutoFit/>
          </a:bodyPr>
          <a:lstStyle/>
          <a:p>
            <a:pPr algn="l"/>
            <a:r>
              <a:rPr sz="1600" b="1">
                <a:solidFill>
                  <a:srgbClr val="FFFFFF"/>
                </a:solidFill>
                <a:latin typeface="JetBrains Mono"/>
              </a:rPr>
              <a:t>Ready</a:t>
            </a:r>
          </a:p>
        </p:txBody>
      </p:sp>
      <p:sp>
        <p:nvSpPr>
          <p:cNvPr id="17" name="TextBox 16"/>
          <p:cNvSpPr txBox="1"/>
          <p:nvPr/>
        </p:nvSpPr>
        <p:spPr>
          <a:xfrm>
            <a:off x="8503920" y="2286000"/>
            <a:ext cx="1280160" cy="274320"/>
          </a:xfrm>
          <a:prstGeom prst="rect">
            <a:avLst/>
          </a:prstGeom>
          <a:noFill/>
        </p:spPr>
        <p:txBody>
          <a:bodyPr wrap="square" lIns="0" rIns="0" tIns="0" bIns="0" anchor="t">
            <a:spAutoFit/>
          </a:bodyPr>
          <a:lstStyle/>
          <a:p>
            <a:pPr algn="l"/>
            <a:r>
              <a:rPr sz="1200" b="0">
                <a:solidFill>
                  <a:srgbClr val="A9BEE6"/>
                </a:solidFill>
                <a:latin typeface="JetBrains Mono"/>
              </a:rPr>
              <a:t>Status</a:t>
            </a:r>
          </a:p>
        </p:txBody>
      </p:sp>
      <p:sp>
        <p:nvSpPr>
          <p:cNvPr id="18" name="TextBox 17"/>
          <p:cNvSpPr txBox="1"/>
          <p:nvPr/>
        </p:nvSpPr>
        <p:spPr>
          <a:xfrm>
            <a:off x="9784080" y="2286000"/>
            <a:ext cx="1828800" cy="274320"/>
          </a:xfrm>
          <a:prstGeom prst="rect">
            <a:avLst/>
          </a:prstGeom>
          <a:noFill/>
        </p:spPr>
        <p:txBody>
          <a:bodyPr wrap="square" lIns="0" rIns="0" tIns="0" bIns="0" anchor="t">
            <a:spAutoFit/>
          </a:bodyPr>
          <a:lstStyle/>
          <a:p>
            <a:pPr algn="l"/>
            <a:r>
              <a:rPr sz="1300" b="1">
                <a:solidFill>
                  <a:srgbClr val="FFFFFF"/>
                </a:solidFill>
                <a:latin typeface="JetBrains Mono"/>
              </a:rPr>
              <a:t>Production</a:t>
            </a:r>
          </a:p>
        </p:txBody>
      </p:sp>
      <p:sp>
        <p:nvSpPr>
          <p:cNvPr id="19" name="TextBox 18"/>
          <p:cNvSpPr txBox="1"/>
          <p:nvPr/>
        </p:nvSpPr>
        <p:spPr>
          <a:xfrm>
            <a:off x="8503920" y="2834640"/>
            <a:ext cx="1280160" cy="274320"/>
          </a:xfrm>
          <a:prstGeom prst="rect">
            <a:avLst/>
          </a:prstGeom>
          <a:noFill/>
        </p:spPr>
        <p:txBody>
          <a:bodyPr wrap="square" lIns="0" rIns="0" tIns="0" bIns="0" anchor="t">
            <a:spAutoFit/>
          </a:bodyPr>
          <a:lstStyle/>
          <a:p>
            <a:pPr algn="l"/>
            <a:r>
              <a:rPr sz="1200" b="0">
                <a:solidFill>
                  <a:srgbClr val="A9BEE6"/>
                </a:solidFill>
                <a:latin typeface="JetBrains Mono"/>
              </a:rPr>
              <a:t>Branch</a:t>
            </a:r>
          </a:p>
        </p:txBody>
      </p:sp>
      <p:sp>
        <p:nvSpPr>
          <p:cNvPr id="20" name="TextBox 19"/>
          <p:cNvSpPr txBox="1"/>
          <p:nvPr/>
        </p:nvSpPr>
        <p:spPr>
          <a:xfrm>
            <a:off x="9784080" y="2834640"/>
            <a:ext cx="1828800" cy="274320"/>
          </a:xfrm>
          <a:prstGeom prst="rect">
            <a:avLst/>
          </a:prstGeom>
          <a:noFill/>
        </p:spPr>
        <p:txBody>
          <a:bodyPr wrap="square" lIns="0" rIns="0" tIns="0" bIns="0" anchor="t">
            <a:spAutoFit/>
          </a:bodyPr>
          <a:lstStyle/>
          <a:p>
            <a:pPr algn="l"/>
            <a:r>
              <a:rPr sz="1300" b="1">
                <a:solidFill>
                  <a:srgbClr val="FFFFFF"/>
                </a:solidFill>
                <a:latin typeface="JetBrains Mono"/>
              </a:rPr>
              <a:t>main</a:t>
            </a:r>
          </a:p>
        </p:txBody>
      </p:sp>
      <p:sp>
        <p:nvSpPr>
          <p:cNvPr id="21" name="TextBox 20"/>
          <p:cNvSpPr txBox="1"/>
          <p:nvPr/>
        </p:nvSpPr>
        <p:spPr>
          <a:xfrm>
            <a:off x="8503920" y="3383280"/>
            <a:ext cx="1280160" cy="274320"/>
          </a:xfrm>
          <a:prstGeom prst="rect">
            <a:avLst/>
          </a:prstGeom>
          <a:noFill/>
        </p:spPr>
        <p:txBody>
          <a:bodyPr wrap="square" lIns="0" rIns="0" tIns="0" bIns="0" anchor="t">
            <a:spAutoFit/>
          </a:bodyPr>
          <a:lstStyle/>
          <a:p>
            <a:pPr algn="l"/>
            <a:r>
              <a:rPr sz="1200" b="0">
                <a:solidFill>
                  <a:srgbClr val="A9BEE6"/>
                </a:solidFill>
                <a:latin typeface="JetBrains Mono"/>
              </a:rPr>
              <a:t>Build</a:t>
            </a:r>
          </a:p>
        </p:txBody>
      </p:sp>
      <p:sp>
        <p:nvSpPr>
          <p:cNvPr id="22" name="TextBox 21"/>
          <p:cNvSpPr txBox="1"/>
          <p:nvPr/>
        </p:nvSpPr>
        <p:spPr>
          <a:xfrm>
            <a:off x="9784080" y="3383280"/>
            <a:ext cx="1828800" cy="274320"/>
          </a:xfrm>
          <a:prstGeom prst="rect">
            <a:avLst/>
          </a:prstGeom>
          <a:noFill/>
        </p:spPr>
        <p:txBody>
          <a:bodyPr wrap="square" lIns="0" rIns="0" tIns="0" bIns="0" anchor="t">
            <a:spAutoFit/>
          </a:bodyPr>
          <a:lstStyle/>
          <a:p>
            <a:pPr algn="l"/>
            <a:r>
              <a:rPr sz="1300" b="1">
                <a:solidFill>
                  <a:srgbClr val="FFFFFF"/>
                </a:solidFill>
                <a:latin typeface="JetBrains Mono"/>
              </a:rPr>
              <a:t>28s</a:t>
            </a:r>
          </a:p>
        </p:txBody>
      </p:sp>
      <p:sp>
        <p:nvSpPr>
          <p:cNvPr id="23" name="TextBox 22"/>
          <p:cNvSpPr txBox="1"/>
          <p:nvPr/>
        </p:nvSpPr>
        <p:spPr>
          <a:xfrm>
            <a:off x="8503920" y="3931920"/>
            <a:ext cx="1280160" cy="274320"/>
          </a:xfrm>
          <a:prstGeom prst="rect">
            <a:avLst/>
          </a:prstGeom>
          <a:noFill/>
        </p:spPr>
        <p:txBody>
          <a:bodyPr wrap="square" lIns="0" rIns="0" tIns="0" bIns="0" anchor="t">
            <a:spAutoFit/>
          </a:bodyPr>
          <a:lstStyle/>
          <a:p>
            <a:pPr algn="l"/>
            <a:r>
              <a:rPr sz="1200" b="0">
                <a:solidFill>
                  <a:srgbClr val="A9BEE6"/>
                </a:solidFill>
                <a:latin typeface="JetBrains Mono"/>
              </a:rPr>
              <a:t>Tools</a:t>
            </a:r>
          </a:p>
        </p:txBody>
      </p:sp>
      <p:sp>
        <p:nvSpPr>
          <p:cNvPr id="24" name="TextBox 23"/>
          <p:cNvSpPr txBox="1"/>
          <p:nvPr/>
        </p:nvSpPr>
        <p:spPr>
          <a:xfrm>
            <a:off x="9784080" y="3931920"/>
            <a:ext cx="1828800" cy="274320"/>
          </a:xfrm>
          <a:prstGeom prst="rect">
            <a:avLst/>
          </a:prstGeom>
          <a:noFill/>
        </p:spPr>
        <p:txBody>
          <a:bodyPr wrap="square" lIns="0" rIns="0" tIns="0" bIns="0" anchor="t">
            <a:spAutoFit/>
          </a:bodyPr>
          <a:lstStyle/>
          <a:p>
            <a:pPr algn="l"/>
            <a:r>
              <a:rPr sz="1300" b="1">
                <a:solidFill>
                  <a:srgbClr val="FFFFFF"/>
                </a:solidFill>
                <a:latin typeface="JetBrains Mono"/>
              </a:rPr>
              <a:t>Chef + Salt</a:t>
            </a:r>
          </a:p>
        </p:txBody>
      </p:sp>
      <p:sp>
        <p:nvSpPr>
          <p:cNvPr id="25" name="TextBox 24"/>
          <p:cNvSpPr txBox="1"/>
          <p:nvPr/>
        </p:nvSpPr>
        <p:spPr>
          <a:xfrm>
            <a:off x="8503920" y="4480560"/>
            <a:ext cx="1280160" cy="274320"/>
          </a:xfrm>
          <a:prstGeom prst="rect">
            <a:avLst/>
          </a:prstGeom>
          <a:noFill/>
        </p:spPr>
        <p:txBody>
          <a:bodyPr wrap="square" lIns="0" rIns="0" tIns="0" bIns="0" anchor="t">
            <a:spAutoFit/>
          </a:bodyPr>
          <a:lstStyle/>
          <a:p>
            <a:pPr algn="l"/>
            <a:r>
              <a:rPr sz="1200" b="0">
                <a:solidFill>
                  <a:srgbClr val="A9BEE6"/>
                </a:solidFill>
                <a:latin typeface="JetBrains Mono"/>
              </a:rPr>
              <a:t>Servers</a:t>
            </a:r>
          </a:p>
        </p:txBody>
      </p:sp>
      <p:sp>
        <p:nvSpPr>
          <p:cNvPr id="26" name="TextBox 25"/>
          <p:cNvSpPr txBox="1"/>
          <p:nvPr/>
        </p:nvSpPr>
        <p:spPr>
          <a:xfrm>
            <a:off x="9784080" y="4480560"/>
            <a:ext cx="1828800" cy="274320"/>
          </a:xfrm>
          <a:prstGeom prst="rect">
            <a:avLst/>
          </a:prstGeom>
          <a:noFill/>
        </p:spPr>
        <p:txBody>
          <a:bodyPr wrap="square" lIns="0" rIns="0" tIns="0" bIns="0" anchor="t">
            <a:spAutoFit/>
          </a:bodyPr>
          <a:lstStyle/>
          <a:p>
            <a:pPr algn="l"/>
            <a:r>
              <a:rPr sz="1300" b="1">
                <a:solidFill>
                  <a:srgbClr val="FFFFFF"/>
                </a:solidFill>
                <a:latin typeface="JetBrains Mono"/>
              </a:rPr>
              <a:t>1,000</a:t>
            </a:r>
          </a:p>
        </p:txBody>
      </p:sp>
      <p:sp>
        <p:nvSpPr>
          <p:cNvPr id="27" name="Rounded Rectangle 26"/>
          <p:cNvSpPr/>
          <p:nvPr/>
        </p:nvSpPr>
        <p:spPr>
          <a:xfrm>
            <a:off x="8503920" y="4937760"/>
            <a:ext cx="2962656" cy="457200"/>
          </a:xfrm>
          <a:prstGeom prst="roundRect">
            <a:avLst/>
          </a:prstGeom>
          <a:solidFill>
            <a:srgbClr val="803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4937760"/>
            <a:ext cx="2962656" cy="457200"/>
          </a:xfrm>
          <a:prstGeom prst="rect">
            <a:avLst/>
          </a:prstGeom>
          <a:noFill/>
        </p:spPr>
        <p:txBody>
          <a:bodyPr wrap="square" lIns="0" rIns="0" tIns="0" bIns="0" anchor="ctr">
            <a:spAutoFit/>
          </a:bodyPr>
          <a:lstStyle/>
          <a:p>
            <a:pPr algn="ctr"/>
            <a:r>
              <a:rPr sz="1400" b="1">
                <a:solidFill>
                  <a:srgbClr val="FFFFFF"/>
                </a:solidFill>
                <a:latin typeface="JetBrains Mono"/>
              </a:rPr>
              <a:t>Visit Site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2026-09-23T11:26:03Z</dcterms:created>
  <dcterms:modified xsi:type="dcterms:W3CDTF">2026-09-23T11:26:03Z</dcterms:modified>
</cp:coreProperties>
</file>